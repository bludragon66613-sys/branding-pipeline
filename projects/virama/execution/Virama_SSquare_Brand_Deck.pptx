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144000" cy="1645920"/>
          </a:xfrm>
          <a:prstGeom prst="rect">
            <a:avLst/>
          </a:prstGeom>
          <a:noFill/>
        </p:spPr>
        <p:txBody>
          <a:bodyPr wrap="square">
            <a:spAutoFit/>
          </a:bodyPr>
          <a:lstStyle/>
          <a:p>
            <a:pPr algn="ctr">
              <a:spcAft>
                <a:spcPts val="800"/>
              </a:spcAft>
            </a:pPr>
            <a:r>
              <a:rPr sz="8000" i="1" b="0">
                <a:solidFill>
                  <a:srgbClr val="F5F1EC"/>
                </a:solidFill>
                <a:latin typeface="Cormorant Garamond"/>
              </a:rPr>
              <a:t>Virāma</a:t>
            </a:r>
          </a:p>
        </p:txBody>
      </p:sp>
      <p:sp>
        <p:nvSpPr>
          <p:cNvPr id="4" name="TextBox 3"/>
          <p:cNvSpPr txBox="1"/>
          <p:nvPr/>
        </p:nvSpPr>
        <p:spPr>
          <a:xfrm>
            <a:off x="1371600" y="3108960"/>
            <a:ext cx="9144000" cy="731520"/>
          </a:xfrm>
          <a:prstGeom prst="rect">
            <a:avLst/>
          </a:prstGeom>
          <a:noFill/>
        </p:spPr>
        <p:txBody>
          <a:bodyPr wrap="square">
            <a:spAutoFit/>
          </a:bodyPr>
          <a:lstStyle/>
          <a:p>
            <a:pPr algn="ctr"/>
            <a:r>
              <a:rPr sz="2800" b="0" i="0">
                <a:solidFill>
                  <a:srgbClr val="E8E2D8"/>
                </a:solidFill>
                <a:latin typeface="Cormorant Garamond"/>
              </a:rPr>
              <a:t>विराम</a:t>
            </a:r>
          </a:p>
        </p:txBody>
      </p:sp>
      <p:cxnSp>
        <p:nvCxnSpPr>
          <p:cNvPr id="5" name="Connector 4"/>
          <p:cNvCxnSpPr/>
          <p:nvPr/>
        </p:nvCxnSpPr>
        <p:spPr>
          <a:xfrm>
            <a:off x="4754880" y="3977639"/>
            <a:ext cx="265176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371600" y="4160520"/>
            <a:ext cx="9144000" cy="365760"/>
          </a:xfrm>
          <a:prstGeom prst="rect">
            <a:avLst/>
          </a:prstGeom>
          <a:noFill/>
        </p:spPr>
        <p:txBody>
          <a:bodyPr wrap="square">
            <a:spAutoFit/>
          </a:bodyPr>
          <a:lstStyle/>
          <a:p>
            <a:pPr algn="ctr"/>
            <a:r>
              <a:rPr sz="800" b="0" i="0">
                <a:solidFill>
                  <a:srgbClr val="C9A96E"/>
                </a:solidFill>
                <a:latin typeface="DM Sans"/>
              </a:rPr>
              <a:t>TWELVE PRIVATE VILLAS  ·  JUBILEE HILLS  ·  HYDERABAD</a:t>
            </a:r>
          </a:p>
        </p:txBody>
      </p:sp>
      <p:sp>
        <p:nvSpPr>
          <p:cNvPr id="7" name="TextBox 6"/>
          <p:cNvSpPr txBox="1"/>
          <p:nvPr/>
        </p:nvSpPr>
        <p:spPr>
          <a:xfrm>
            <a:off x="1371600" y="6126480"/>
            <a:ext cx="9144000" cy="365760"/>
          </a:xfrm>
          <a:prstGeom prst="rect">
            <a:avLst/>
          </a:prstGeom>
          <a:noFill/>
        </p:spPr>
        <p:txBody>
          <a:bodyPr wrap="square">
            <a:spAutoFit/>
          </a:bodyPr>
          <a:lstStyle/>
          <a:p>
            <a:pPr algn="ctr"/>
            <a:r>
              <a:rPr sz="900" b="0" i="1">
                <a:solidFill>
                  <a:srgbClr val="E8E2D8"/>
                </a:solidFill>
                <a:latin typeface="DM Sans"/>
              </a:rPr>
              <a:t>A SSquare Development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59752" cy="6858000"/>
          </a:xfrm>
          <a:prstGeom prst="rect">
            <a:avLst/>
          </a:prstGeom>
          <a:solidFill>
            <a:srgbClr val="383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4114800" cy="228600"/>
          </a:xfrm>
          <a:prstGeom prst="rect">
            <a:avLst/>
          </a:prstGeom>
          <a:noFill/>
        </p:spPr>
        <p:txBody>
          <a:bodyPr wrap="square">
            <a:spAutoFit/>
          </a:bodyPr>
          <a:lstStyle/>
          <a:p>
            <a:pPr algn="l"/>
            <a:r>
              <a:rPr sz="800" b="0" i="0">
                <a:solidFill>
                  <a:srgbClr val="C9A96E"/>
                </a:solidFill>
                <a:latin typeface="DM Sans"/>
              </a:rPr>
              <a:t>VIRĀMA  ·  विराम</a:t>
            </a:r>
          </a:p>
        </p:txBody>
      </p:sp>
      <p:cxnSp>
        <p:nvCxnSpPr>
          <p:cNvPr id="5" name="Connector 4"/>
          <p:cNvCxnSpPr/>
          <p:nvPr/>
        </p:nvCxnSpPr>
        <p:spPr>
          <a:xfrm>
            <a:off x="1097280" y="2148840"/>
            <a:ext cx="256032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7280" y="2331720"/>
            <a:ext cx="3840480" cy="1828800"/>
          </a:xfrm>
          <a:prstGeom prst="rect">
            <a:avLst/>
          </a:prstGeom>
          <a:noFill/>
        </p:spPr>
        <p:txBody>
          <a:bodyPr wrap="square">
            <a:spAutoFit/>
          </a:bodyPr>
          <a:lstStyle/>
          <a:p>
            <a:pPr algn="l">
              <a:spcAft>
                <a:spcPts val="600"/>
              </a:spcAft>
            </a:pPr>
            <a:r>
              <a:rPr sz="3600" i="1" b="0">
                <a:solidFill>
                  <a:srgbClr val="F5F1EC"/>
                </a:solidFill>
                <a:latin typeface="Cormorant Garamond"/>
              </a:rPr>
              <a:t>The word does not mean stop.</a:t>
            </a:r>
          </a:p>
          <a:p>
            <a:pPr algn="l">
              <a:spcAft>
                <a:spcPts val="600"/>
              </a:spcAft>
            </a:pPr>
            <a:r>
              <a:rPr sz="3600" i="1" b="0">
                <a:solidFill>
                  <a:srgbClr val="F5F1EC"/>
                </a:solidFill>
                <a:latin typeface="Cormorant Garamond"/>
              </a:rPr>
              <a:t>It means the breath between.</a:t>
            </a:r>
          </a:p>
        </p:txBody>
      </p:sp>
      <p:sp>
        <p:nvSpPr>
          <p:cNvPr id="7" name="TextBox 6"/>
          <p:cNvSpPr txBox="1"/>
          <p:nvPr/>
        </p:nvSpPr>
        <p:spPr>
          <a:xfrm>
            <a:off x="1097280" y="4389120"/>
            <a:ext cx="3840480" cy="1645920"/>
          </a:xfrm>
          <a:prstGeom prst="rect">
            <a:avLst/>
          </a:prstGeom>
          <a:noFill/>
        </p:spPr>
        <p:txBody>
          <a:bodyPr wrap="square">
            <a:spAutoFit/>
          </a:bodyPr>
          <a:lstStyle/>
          <a:p>
            <a:pPr algn="l"/>
            <a:r>
              <a:rPr sz="1050" b="0" i="0">
                <a:solidFill>
                  <a:srgbClr val="E8E2D8"/>
                </a:solidFill>
                <a:latin typeface="DM Sans"/>
              </a:rPr>
              <a:t>In Sanskrit, virāma is the pause that gives a phrase its meaning. Not silence as absence — silence as presence. We named this place after that idea. Twelve homes built not around what fills them, but around what they let go of.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3657600" cy="228600"/>
          </a:xfrm>
          <a:prstGeom prst="rect">
            <a:avLst/>
          </a:prstGeom>
          <a:noFill/>
        </p:spPr>
        <p:txBody>
          <a:bodyPr wrap="square">
            <a:spAutoFit/>
          </a:bodyPr>
          <a:lstStyle/>
          <a:p>
            <a:pPr algn="l"/>
            <a:r>
              <a:rPr sz="800" b="0" i="0">
                <a:solidFill>
                  <a:srgbClr val="C9A96E"/>
                </a:solidFill>
                <a:latin typeface="DM Sans"/>
              </a:rPr>
              <a:t>THE DEVELOPER</a:t>
            </a:r>
          </a:p>
        </p:txBody>
      </p:sp>
      <p:cxnSp>
        <p:nvCxnSpPr>
          <p:cNvPr id="4" name="Connector 3"/>
          <p:cNvCxnSpPr/>
          <p:nvPr/>
        </p:nvCxnSpPr>
        <p:spPr>
          <a:xfrm>
            <a:off x="1097280" y="160020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783080"/>
            <a:ext cx="6400800" cy="1645920"/>
          </a:xfrm>
          <a:prstGeom prst="rect">
            <a:avLst/>
          </a:prstGeom>
          <a:noFill/>
        </p:spPr>
        <p:txBody>
          <a:bodyPr wrap="square">
            <a:spAutoFit/>
          </a:bodyPr>
          <a:lstStyle/>
          <a:p>
            <a:pPr algn="l">
              <a:spcAft>
                <a:spcPts val="800"/>
              </a:spcAft>
            </a:pPr>
            <a:r>
              <a:rPr sz="4000" i="1" b="0">
                <a:solidFill>
                  <a:srgbClr val="2C2825"/>
                </a:solidFill>
                <a:latin typeface="Cormorant Garamond"/>
              </a:rPr>
              <a:t>Thirty-five years of building</a:t>
            </a:r>
          </a:p>
          <a:p>
            <a:pPr algn="l">
              <a:spcAft>
                <a:spcPts val="800"/>
              </a:spcAft>
            </a:pPr>
            <a:r>
              <a:rPr sz="4000" i="1" b="0">
                <a:solidFill>
                  <a:srgbClr val="2C2825"/>
                </a:solidFill>
                <a:latin typeface="Cormorant Garamond"/>
              </a:rPr>
              <a:t>things that last.</a:t>
            </a:r>
          </a:p>
        </p:txBody>
      </p:sp>
      <p:sp>
        <p:nvSpPr>
          <p:cNvPr id="6" name="TextBox 5"/>
          <p:cNvSpPr txBox="1"/>
          <p:nvPr/>
        </p:nvSpPr>
        <p:spPr>
          <a:xfrm>
            <a:off x="1097280" y="3611880"/>
            <a:ext cx="6400800" cy="1463040"/>
          </a:xfrm>
          <a:prstGeom prst="rect">
            <a:avLst/>
          </a:prstGeom>
          <a:noFill/>
        </p:spPr>
        <p:txBody>
          <a:bodyPr wrap="square">
            <a:spAutoFit/>
          </a:bodyPr>
          <a:lstStyle/>
          <a:p>
            <a:pPr algn="l"/>
            <a:r>
              <a:rPr sz="1100" b="0" i="0">
                <a:solidFill>
                  <a:srgbClr val="4A4440"/>
                </a:solidFill>
                <a:latin typeface="DM Sans"/>
              </a:rPr>
              <a:t>SSquare was founded in 1991. Since then, we have developed over ten million square feet of premium commercial real estate across Hyderabad. We have never built for volume. We have built to a standard. Virāma is our first residential work — and it will be our definitive one.</a:t>
            </a:r>
          </a:p>
        </p:txBody>
      </p:sp>
      <p:cxnSp>
        <p:nvCxnSpPr>
          <p:cNvPr id="7" name="Connector 6"/>
          <p:cNvCxnSpPr/>
          <p:nvPr/>
        </p:nvCxnSpPr>
        <p:spPr>
          <a:xfrm>
            <a:off x="1097280" y="5257800"/>
            <a:ext cx="27432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97280" y="5440680"/>
            <a:ext cx="7315200" cy="731520"/>
          </a:xfrm>
          <a:prstGeom prst="rect">
            <a:avLst/>
          </a:prstGeom>
          <a:noFill/>
        </p:spPr>
        <p:txBody>
          <a:bodyPr wrap="square">
            <a:spAutoFit/>
          </a:bodyPr>
          <a:lstStyle/>
          <a:p>
            <a:pPr algn="l"/>
            <a:r>
              <a:rPr sz="2200" b="0" i="1">
                <a:solidFill>
                  <a:srgbClr val="C9A96E"/>
                </a:solidFill>
                <a:latin typeface="Cormorant Garamond"/>
              </a:rPr>
              <a:t>"The Standard, Privately Held."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3657600" cy="228600"/>
          </a:xfrm>
          <a:prstGeom prst="rect">
            <a:avLst/>
          </a:prstGeom>
          <a:noFill/>
        </p:spPr>
        <p:txBody>
          <a:bodyPr wrap="square">
            <a:spAutoFit/>
          </a:bodyPr>
          <a:lstStyle/>
          <a:p>
            <a:pPr algn="l"/>
            <a:r>
              <a:rPr sz="800" b="0" i="0">
                <a:solidFill>
                  <a:srgbClr val="C9A96E"/>
                </a:solidFill>
                <a:latin typeface="DM Sans"/>
              </a:rPr>
              <a:t>THE LOCATION</a:t>
            </a:r>
          </a:p>
        </p:txBody>
      </p:sp>
      <p:cxnSp>
        <p:nvCxnSpPr>
          <p:cNvPr id="4" name="Connector 3"/>
          <p:cNvCxnSpPr/>
          <p:nvPr/>
        </p:nvCxnSpPr>
        <p:spPr>
          <a:xfrm>
            <a:off x="1097280" y="196596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2148840"/>
            <a:ext cx="5029200" cy="1645920"/>
          </a:xfrm>
          <a:prstGeom prst="rect">
            <a:avLst/>
          </a:prstGeom>
          <a:noFill/>
        </p:spPr>
        <p:txBody>
          <a:bodyPr wrap="square">
            <a:spAutoFit/>
          </a:bodyPr>
          <a:lstStyle/>
          <a:p>
            <a:pPr algn="l">
              <a:spcAft>
                <a:spcPts val="800"/>
              </a:spcAft>
            </a:pPr>
            <a:r>
              <a:rPr sz="3800" i="1" b="0">
                <a:solidFill>
                  <a:srgbClr val="F5F1EC"/>
                </a:solidFill>
                <a:latin typeface="Cormorant Garamond"/>
              </a:rPr>
              <a:t>Where Hyderabad's hills</a:t>
            </a:r>
          </a:p>
          <a:p>
            <a:pPr algn="l">
              <a:spcAft>
                <a:spcPts val="800"/>
              </a:spcAft>
            </a:pPr>
            <a:r>
              <a:rPr sz="3800" i="1" b="0">
                <a:solidFill>
                  <a:srgbClr val="F5F1EC"/>
                </a:solidFill>
                <a:latin typeface="Cormorant Garamond"/>
              </a:rPr>
              <a:t>meet their quietest road.</a:t>
            </a:r>
          </a:p>
        </p:txBody>
      </p:sp>
      <p:sp>
        <p:nvSpPr>
          <p:cNvPr id="6" name="TextBox 5"/>
          <p:cNvSpPr txBox="1"/>
          <p:nvPr/>
        </p:nvSpPr>
        <p:spPr>
          <a:xfrm>
            <a:off x="1097280" y="3977639"/>
            <a:ext cx="5029200" cy="1645920"/>
          </a:xfrm>
          <a:prstGeom prst="rect">
            <a:avLst/>
          </a:prstGeom>
          <a:noFill/>
        </p:spPr>
        <p:txBody>
          <a:bodyPr wrap="square">
            <a:spAutoFit/>
          </a:bodyPr>
          <a:lstStyle/>
          <a:p>
            <a:pPr algn="l"/>
            <a:r>
              <a:rPr sz="1050" b="0" i="0">
                <a:solidFill>
                  <a:srgbClr val="E8E2D8"/>
                </a:solidFill>
                <a:latin typeface="DM Sans"/>
              </a:rPr>
              <a:t>Prashashan Nagar. A single street in Jubilee Hills known to its residents simply as Malibu. Gated, green, unhurried — 500 metres from Film Nagar, four minutes from the Jubilee Hills Club, and entirely apart from everything else. The address is not a postcode. It is a posture.</a:t>
            </a:r>
          </a:p>
        </p:txBody>
      </p:sp>
      <p:sp>
        <p:nvSpPr>
          <p:cNvPr id="7" name="TextBox 6"/>
          <p:cNvSpPr txBox="1"/>
          <p:nvPr/>
        </p:nvSpPr>
        <p:spPr>
          <a:xfrm>
            <a:off x="7772400" y="1645920"/>
            <a:ext cx="1371600" cy="411480"/>
          </a:xfrm>
          <a:prstGeom prst="rect">
            <a:avLst/>
          </a:prstGeom>
          <a:noFill/>
        </p:spPr>
        <p:txBody>
          <a:bodyPr wrap="square">
            <a:spAutoFit/>
          </a:bodyPr>
          <a:lstStyle/>
          <a:p>
            <a:pPr algn="l"/>
            <a:r>
              <a:rPr sz="2200" b="0" i="1">
                <a:solidFill>
                  <a:srgbClr val="C9A96E"/>
                </a:solidFill>
                <a:latin typeface="Cormorant Garamond"/>
              </a:rPr>
              <a:t>4 min</a:t>
            </a:r>
          </a:p>
        </p:txBody>
      </p:sp>
      <p:sp>
        <p:nvSpPr>
          <p:cNvPr id="8" name="TextBox 7"/>
          <p:cNvSpPr txBox="1"/>
          <p:nvPr/>
        </p:nvSpPr>
        <p:spPr>
          <a:xfrm>
            <a:off x="7772400" y="1993392"/>
            <a:ext cx="3657600" cy="320040"/>
          </a:xfrm>
          <a:prstGeom prst="rect">
            <a:avLst/>
          </a:prstGeom>
          <a:noFill/>
        </p:spPr>
        <p:txBody>
          <a:bodyPr wrap="square">
            <a:spAutoFit/>
          </a:bodyPr>
          <a:lstStyle/>
          <a:p>
            <a:pPr algn="l"/>
            <a:r>
              <a:rPr sz="900" b="0" i="0">
                <a:solidFill>
                  <a:srgbClr val="E8E2D8"/>
                </a:solidFill>
                <a:latin typeface="DM Sans"/>
              </a:rPr>
              <a:t>Jubilee Hills Club</a:t>
            </a:r>
          </a:p>
        </p:txBody>
      </p:sp>
      <p:sp>
        <p:nvSpPr>
          <p:cNvPr id="9" name="TextBox 8"/>
          <p:cNvSpPr txBox="1"/>
          <p:nvPr/>
        </p:nvSpPr>
        <p:spPr>
          <a:xfrm>
            <a:off x="7772400" y="2743200"/>
            <a:ext cx="1371600" cy="411480"/>
          </a:xfrm>
          <a:prstGeom prst="rect">
            <a:avLst/>
          </a:prstGeom>
          <a:noFill/>
        </p:spPr>
        <p:txBody>
          <a:bodyPr wrap="square">
            <a:spAutoFit/>
          </a:bodyPr>
          <a:lstStyle/>
          <a:p>
            <a:pPr algn="l"/>
            <a:r>
              <a:rPr sz="2200" b="0" i="1">
                <a:solidFill>
                  <a:srgbClr val="C9A96E"/>
                </a:solidFill>
                <a:latin typeface="Cormorant Garamond"/>
              </a:rPr>
              <a:t>10 min</a:t>
            </a:r>
          </a:p>
        </p:txBody>
      </p:sp>
      <p:sp>
        <p:nvSpPr>
          <p:cNvPr id="10" name="TextBox 9"/>
          <p:cNvSpPr txBox="1"/>
          <p:nvPr/>
        </p:nvSpPr>
        <p:spPr>
          <a:xfrm>
            <a:off x="7772400" y="3090672"/>
            <a:ext cx="3657600" cy="320040"/>
          </a:xfrm>
          <a:prstGeom prst="rect">
            <a:avLst/>
          </a:prstGeom>
          <a:noFill/>
        </p:spPr>
        <p:txBody>
          <a:bodyPr wrap="square">
            <a:spAutoFit/>
          </a:bodyPr>
          <a:lstStyle/>
          <a:p>
            <a:pPr algn="l"/>
            <a:r>
              <a:rPr sz="900" b="0" i="0">
                <a:solidFill>
                  <a:srgbClr val="E8E2D8"/>
                </a:solidFill>
                <a:latin typeface="DM Sans"/>
              </a:rPr>
              <a:t>HITECH City corridor</a:t>
            </a:r>
          </a:p>
        </p:txBody>
      </p:sp>
      <p:sp>
        <p:nvSpPr>
          <p:cNvPr id="11" name="TextBox 10"/>
          <p:cNvSpPr txBox="1"/>
          <p:nvPr/>
        </p:nvSpPr>
        <p:spPr>
          <a:xfrm>
            <a:off x="7772400" y="3840480"/>
            <a:ext cx="1371600" cy="411480"/>
          </a:xfrm>
          <a:prstGeom prst="rect">
            <a:avLst/>
          </a:prstGeom>
          <a:noFill/>
        </p:spPr>
        <p:txBody>
          <a:bodyPr wrap="square">
            <a:spAutoFit/>
          </a:bodyPr>
          <a:lstStyle/>
          <a:p>
            <a:pPr algn="l"/>
            <a:r>
              <a:rPr sz="2200" b="0" i="1">
                <a:solidFill>
                  <a:srgbClr val="C9A96E"/>
                </a:solidFill>
                <a:latin typeface="Cormorant Garamond"/>
              </a:rPr>
              <a:t>10 min</a:t>
            </a:r>
          </a:p>
        </p:txBody>
      </p:sp>
      <p:sp>
        <p:nvSpPr>
          <p:cNvPr id="12" name="TextBox 11"/>
          <p:cNvSpPr txBox="1"/>
          <p:nvPr/>
        </p:nvSpPr>
        <p:spPr>
          <a:xfrm>
            <a:off x="7772400" y="4187952"/>
            <a:ext cx="3657600" cy="320040"/>
          </a:xfrm>
          <a:prstGeom prst="rect">
            <a:avLst/>
          </a:prstGeom>
          <a:noFill/>
        </p:spPr>
        <p:txBody>
          <a:bodyPr wrap="square">
            <a:spAutoFit/>
          </a:bodyPr>
          <a:lstStyle/>
          <a:p>
            <a:pPr algn="l"/>
            <a:r>
              <a:rPr sz="900" b="0" i="0">
                <a:solidFill>
                  <a:srgbClr val="E8E2D8"/>
                </a:solidFill>
                <a:latin typeface="DM Sans"/>
              </a:rPr>
              <a:t>KBR National Park</a:t>
            </a:r>
          </a:p>
        </p:txBody>
      </p:sp>
      <p:sp>
        <p:nvSpPr>
          <p:cNvPr id="13" name="TextBox 12"/>
          <p:cNvSpPr txBox="1"/>
          <p:nvPr/>
        </p:nvSpPr>
        <p:spPr>
          <a:xfrm>
            <a:off x="7772400" y="4937759"/>
            <a:ext cx="1371600" cy="411480"/>
          </a:xfrm>
          <a:prstGeom prst="rect">
            <a:avLst/>
          </a:prstGeom>
          <a:noFill/>
        </p:spPr>
        <p:txBody>
          <a:bodyPr wrap="square">
            <a:spAutoFit/>
          </a:bodyPr>
          <a:lstStyle/>
          <a:p>
            <a:pPr algn="l"/>
            <a:r>
              <a:rPr sz="2200" b="0" i="1">
                <a:solidFill>
                  <a:srgbClr val="C9A96E"/>
                </a:solidFill>
                <a:latin typeface="Cormorant Garamond"/>
              </a:rPr>
              <a:t>18 min</a:t>
            </a:r>
          </a:p>
        </p:txBody>
      </p:sp>
      <p:sp>
        <p:nvSpPr>
          <p:cNvPr id="14" name="TextBox 13"/>
          <p:cNvSpPr txBox="1"/>
          <p:nvPr/>
        </p:nvSpPr>
        <p:spPr>
          <a:xfrm>
            <a:off x="7772400" y="5285231"/>
            <a:ext cx="3657600" cy="320040"/>
          </a:xfrm>
          <a:prstGeom prst="rect">
            <a:avLst/>
          </a:prstGeom>
          <a:noFill/>
        </p:spPr>
        <p:txBody>
          <a:bodyPr wrap="square">
            <a:spAutoFit/>
          </a:bodyPr>
          <a:lstStyle/>
          <a:p>
            <a:pPr algn="l"/>
            <a:r>
              <a:rPr sz="900" b="0" i="0">
                <a:solidFill>
                  <a:srgbClr val="E8E2D8"/>
                </a:solidFill>
                <a:latin typeface="DM Sans"/>
              </a:rPr>
              <a:t>Financial District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3657600" cy="228600"/>
          </a:xfrm>
          <a:prstGeom prst="rect">
            <a:avLst/>
          </a:prstGeom>
          <a:noFill/>
        </p:spPr>
        <p:txBody>
          <a:bodyPr wrap="square">
            <a:spAutoFit/>
          </a:bodyPr>
          <a:lstStyle/>
          <a:p>
            <a:pPr algn="l"/>
            <a:r>
              <a:rPr sz="800" b="0" i="0">
                <a:solidFill>
                  <a:srgbClr val="C9A96E"/>
                </a:solidFill>
                <a:latin typeface="DM Sans"/>
              </a:rPr>
              <a:t>THE ESTATE</a:t>
            </a:r>
          </a:p>
        </p:txBody>
      </p:sp>
      <p:cxnSp>
        <p:nvCxnSpPr>
          <p:cNvPr id="4" name="Connector 3"/>
          <p:cNvCxnSpPr/>
          <p:nvPr/>
        </p:nvCxnSpPr>
        <p:spPr>
          <a:xfrm>
            <a:off x="1097280" y="160020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783080"/>
            <a:ext cx="4572000" cy="914400"/>
          </a:xfrm>
          <a:prstGeom prst="rect">
            <a:avLst/>
          </a:prstGeom>
          <a:noFill/>
        </p:spPr>
        <p:txBody>
          <a:bodyPr wrap="square">
            <a:spAutoFit/>
          </a:bodyPr>
          <a:lstStyle/>
          <a:p>
            <a:pPr algn="l"/>
            <a:r>
              <a:rPr sz="5200" b="0" i="1">
                <a:solidFill>
                  <a:srgbClr val="2C2825"/>
                </a:solidFill>
                <a:latin typeface="Cormorant Garamond"/>
              </a:rPr>
              <a:t>Twelve. No more.</a:t>
            </a:r>
          </a:p>
        </p:txBody>
      </p:sp>
      <p:sp>
        <p:nvSpPr>
          <p:cNvPr id="6" name="TextBox 5"/>
          <p:cNvSpPr txBox="1"/>
          <p:nvPr/>
        </p:nvSpPr>
        <p:spPr>
          <a:xfrm>
            <a:off x="1097280" y="3017520"/>
            <a:ext cx="4754880" cy="1645920"/>
          </a:xfrm>
          <a:prstGeom prst="rect">
            <a:avLst/>
          </a:prstGeom>
          <a:noFill/>
        </p:spPr>
        <p:txBody>
          <a:bodyPr wrap="square">
            <a:spAutoFit/>
          </a:bodyPr>
          <a:lstStyle/>
          <a:p>
            <a:pPr algn="l"/>
            <a:r>
              <a:rPr sz="1100" b="0" i="0">
                <a:solidFill>
                  <a:srgbClr val="4A4440"/>
                </a:solidFill>
                <a:latin typeface="DM Sans"/>
              </a:rPr>
              <a:t>A gated estate of twelve private villas. Each home has its own pool, its own forecourt, its own silence. The Green Circuit — a continuous landscape corridor of native planting — connects them without crowding them. This is not a development. It is a private enclave.</a:t>
            </a:r>
          </a:p>
        </p:txBody>
      </p:sp>
      <p:sp>
        <p:nvSpPr>
          <p:cNvPr id="7" name="TextBox 6"/>
          <p:cNvSpPr txBox="1"/>
          <p:nvPr/>
        </p:nvSpPr>
        <p:spPr>
          <a:xfrm>
            <a:off x="7315200" y="2560320"/>
            <a:ext cx="1371600" cy="1097280"/>
          </a:xfrm>
          <a:prstGeom prst="rect">
            <a:avLst/>
          </a:prstGeom>
          <a:noFill/>
        </p:spPr>
        <p:txBody>
          <a:bodyPr wrap="square">
            <a:spAutoFit/>
          </a:bodyPr>
          <a:lstStyle/>
          <a:p>
            <a:pPr algn="ctr"/>
            <a:r>
              <a:rPr sz="5200" b="0" i="0">
                <a:solidFill>
                  <a:srgbClr val="2C2825"/>
                </a:solidFill>
                <a:latin typeface="Cormorant Garamond"/>
              </a:rPr>
              <a:t>12</a:t>
            </a:r>
          </a:p>
        </p:txBody>
      </p:sp>
      <p:sp>
        <p:nvSpPr>
          <p:cNvPr id="8" name="TextBox 7"/>
          <p:cNvSpPr txBox="1"/>
          <p:nvPr/>
        </p:nvSpPr>
        <p:spPr>
          <a:xfrm>
            <a:off x="7315200" y="3566160"/>
            <a:ext cx="1371600" cy="457200"/>
          </a:xfrm>
          <a:prstGeom prst="rect">
            <a:avLst/>
          </a:prstGeom>
          <a:noFill/>
        </p:spPr>
        <p:txBody>
          <a:bodyPr wrap="square">
            <a:spAutoFit/>
          </a:bodyPr>
          <a:lstStyle/>
          <a:p>
            <a:pPr algn="ctr"/>
            <a:r>
              <a:rPr sz="800" b="0" i="0">
                <a:solidFill>
                  <a:srgbClr val="4A4440"/>
                </a:solidFill>
                <a:latin typeface="DM Sans"/>
              </a:rPr>
              <a:t>Private Villas</a:t>
            </a:r>
          </a:p>
        </p:txBody>
      </p:sp>
      <p:cxnSp>
        <p:nvCxnSpPr>
          <p:cNvPr id="9" name="Connector 8"/>
          <p:cNvCxnSpPr/>
          <p:nvPr/>
        </p:nvCxnSpPr>
        <p:spPr>
          <a:xfrm>
            <a:off x="7498080" y="4206240"/>
            <a:ext cx="100584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869680" y="2560320"/>
            <a:ext cx="1371600" cy="1097280"/>
          </a:xfrm>
          <a:prstGeom prst="rect">
            <a:avLst/>
          </a:prstGeom>
          <a:noFill/>
        </p:spPr>
        <p:txBody>
          <a:bodyPr wrap="square">
            <a:spAutoFit/>
          </a:bodyPr>
          <a:lstStyle/>
          <a:p>
            <a:pPr algn="ctr"/>
            <a:r>
              <a:rPr sz="5200" b="0" i="0">
                <a:solidFill>
                  <a:srgbClr val="2C2825"/>
                </a:solidFill>
                <a:latin typeface="Cormorant Garamond"/>
              </a:rPr>
              <a:t>1</a:t>
            </a:r>
          </a:p>
        </p:txBody>
      </p:sp>
      <p:sp>
        <p:nvSpPr>
          <p:cNvPr id="11" name="TextBox 10"/>
          <p:cNvSpPr txBox="1"/>
          <p:nvPr/>
        </p:nvSpPr>
        <p:spPr>
          <a:xfrm>
            <a:off x="8869680" y="3566160"/>
            <a:ext cx="1371600" cy="457200"/>
          </a:xfrm>
          <a:prstGeom prst="rect">
            <a:avLst/>
          </a:prstGeom>
          <a:noFill/>
        </p:spPr>
        <p:txBody>
          <a:bodyPr wrap="square">
            <a:spAutoFit/>
          </a:bodyPr>
          <a:lstStyle/>
          <a:p>
            <a:pPr algn="ctr"/>
            <a:r>
              <a:rPr sz="800" b="0" i="0">
                <a:solidFill>
                  <a:srgbClr val="4A4440"/>
                </a:solidFill>
                <a:latin typeface="DM Sans"/>
              </a:rPr>
              <a:t>Gate · One Entry</a:t>
            </a:r>
          </a:p>
        </p:txBody>
      </p:sp>
      <p:cxnSp>
        <p:nvCxnSpPr>
          <p:cNvPr id="12" name="Connector 11"/>
          <p:cNvCxnSpPr/>
          <p:nvPr/>
        </p:nvCxnSpPr>
        <p:spPr>
          <a:xfrm>
            <a:off x="9052560" y="4206240"/>
            <a:ext cx="100584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424160" y="2560320"/>
            <a:ext cx="1371600" cy="1097280"/>
          </a:xfrm>
          <a:prstGeom prst="rect">
            <a:avLst/>
          </a:prstGeom>
          <a:noFill/>
        </p:spPr>
        <p:txBody>
          <a:bodyPr wrap="square">
            <a:spAutoFit/>
          </a:bodyPr>
          <a:lstStyle/>
          <a:p>
            <a:pPr algn="ctr"/>
            <a:r>
              <a:rPr sz="5200" b="0" i="0">
                <a:solidFill>
                  <a:srgbClr val="2C2825"/>
                </a:solidFill>
                <a:latin typeface="Cormorant Garamond"/>
              </a:rPr>
              <a:t>400m</a:t>
            </a:r>
          </a:p>
        </p:txBody>
      </p:sp>
      <p:sp>
        <p:nvSpPr>
          <p:cNvPr id="14" name="TextBox 13"/>
          <p:cNvSpPr txBox="1"/>
          <p:nvPr/>
        </p:nvSpPr>
        <p:spPr>
          <a:xfrm>
            <a:off x="10424160" y="3566160"/>
            <a:ext cx="1371600" cy="457200"/>
          </a:xfrm>
          <a:prstGeom prst="rect">
            <a:avLst/>
          </a:prstGeom>
          <a:noFill/>
        </p:spPr>
        <p:txBody>
          <a:bodyPr wrap="square">
            <a:spAutoFit/>
          </a:bodyPr>
          <a:lstStyle/>
          <a:p>
            <a:pPr algn="ctr"/>
            <a:r>
              <a:rPr sz="800" b="0" i="0">
                <a:solidFill>
                  <a:srgbClr val="4A4440"/>
                </a:solidFill>
                <a:latin typeface="DM Sans"/>
              </a:rPr>
              <a:t>The Green Circuit</a:t>
            </a:r>
          </a:p>
        </p:txBody>
      </p:sp>
      <p:cxnSp>
        <p:nvCxnSpPr>
          <p:cNvPr id="15" name="Connector 14"/>
          <p:cNvCxnSpPr/>
          <p:nvPr/>
        </p:nvCxnSpPr>
        <p:spPr>
          <a:xfrm>
            <a:off x="10607040" y="4206240"/>
            <a:ext cx="100584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3657600" cy="228600"/>
          </a:xfrm>
          <a:prstGeom prst="rect">
            <a:avLst/>
          </a:prstGeom>
          <a:noFill/>
        </p:spPr>
        <p:txBody>
          <a:bodyPr wrap="square">
            <a:spAutoFit/>
          </a:bodyPr>
          <a:lstStyle/>
          <a:p>
            <a:pPr algn="l"/>
            <a:r>
              <a:rPr sz="800" b="0" i="0">
                <a:solidFill>
                  <a:srgbClr val="C9A96E"/>
                </a:solidFill>
                <a:latin typeface="DM Sans"/>
              </a:rPr>
              <a:t>ARCHITECTURE</a:t>
            </a:r>
          </a:p>
        </p:txBody>
      </p:sp>
      <p:cxnSp>
        <p:nvCxnSpPr>
          <p:cNvPr id="4" name="Connector 3"/>
          <p:cNvCxnSpPr/>
          <p:nvPr/>
        </p:nvCxnSpPr>
        <p:spPr>
          <a:xfrm>
            <a:off x="1097280" y="178308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965960"/>
            <a:ext cx="4754880" cy="1645920"/>
          </a:xfrm>
          <a:prstGeom prst="rect">
            <a:avLst/>
          </a:prstGeom>
          <a:noFill/>
        </p:spPr>
        <p:txBody>
          <a:bodyPr wrap="square">
            <a:spAutoFit/>
          </a:bodyPr>
          <a:lstStyle/>
          <a:p>
            <a:pPr algn="l">
              <a:spcAft>
                <a:spcPts val="800"/>
              </a:spcAft>
            </a:pPr>
            <a:r>
              <a:rPr sz="3800" i="1" b="0">
                <a:solidFill>
                  <a:srgbClr val="F5F1EC"/>
                </a:solidFill>
                <a:latin typeface="Cormorant Garamond"/>
              </a:rPr>
              <a:t>Stone, glass, and the</a:t>
            </a:r>
          </a:p>
          <a:p>
            <a:pPr algn="l">
              <a:spcAft>
                <a:spcPts val="800"/>
              </a:spcAft>
            </a:pPr>
            <a:r>
              <a:rPr sz="3800" i="1" b="0">
                <a:solidFill>
                  <a:srgbClr val="F5F1EC"/>
                </a:solidFill>
                <a:latin typeface="Cormorant Garamond"/>
              </a:rPr>
              <a:t>discipline of restraint.</a:t>
            </a:r>
          </a:p>
        </p:txBody>
      </p:sp>
      <p:sp>
        <p:nvSpPr>
          <p:cNvPr id="6" name="TextBox 5"/>
          <p:cNvSpPr txBox="1"/>
          <p:nvPr/>
        </p:nvSpPr>
        <p:spPr>
          <a:xfrm>
            <a:off x="1097280" y="3840480"/>
            <a:ext cx="4754880" cy="1737360"/>
          </a:xfrm>
          <a:prstGeom prst="rect">
            <a:avLst/>
          </a:prstGeom>
          <a:noFill/>
        </p:spPr>
        <p:txBody>
          <a:bodyPr wrap="square">
            <a:spAutoFit/>
          </a:bodyPr>
          <a:lstStyle/>
          <a:p>
            <a:pPr algn="l"/>
            <a:r>
              <a:rPr sz="1050" b="0" i="0">
                <a:solidFill>
                  <a:srgbClr val="E8E2D8"/>
                </a:solidFill>
                <a:latin typeface="DM Sans"/>
              </a:rPr>
              <a:t>Single storey. Honed limestone walls. Dark basalt at the base. A cantilevered roof that extends the interior into the landscape. Floor-to-ceiling glazing that disappears at dusk. A teak pivot door that announces arrival without announcing itself. Every material chosen for how it weathers.</a:t>
            </a:r>
          </a:p>
        </p:txBody>
      </p:sp>
      <p:sp>
        <p:nvSpPr>
          <p:cNvPr id="7" name="Rectangle 6"/>
          <p:cNvSpPr/>
          <p:nvPr/>
        </p:nvSpPr>
        <p:spPr>
          <a:xfrm>
            <a:off x="8046720" y="1371600"/>
            <a:ext cx="36576" cy="54864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371600"/>
            <a:ext cx="3474720" cy="457200"/>
          </a:xfrm>
          <a:prstGeom prst="rect">
            <a:avLst/>
          </a:prstGeom>
          <a:noFill/>
        </p:spPr>
        <p:txBody>
          <a:bodyPr wrap="square">
            <a:spAutoFit/>
          </a:bodyPr>
          <a:lstStyle/>
          <a:p>
            <a:pPr algn="l"/>
            <a:r>
              <a:rPr sz="1000" b="0" i="0">
                <a:solidFill>
                  <a:srgbClr val="E8E2D8"/>
                </a:solidFill>
                <a:latin typeface="DM Sans"/>
              </a:rPr>
              <a:t>Honed limestone</a:t>
            </a:r>
          </a:p>
        </p:txBody>
      </p:sp>
      <p:sp>
        <p:nvSpPr>
          <p:cNvPr id="9" name="Rectangle 8"/>
          <p:cNvSpPr/>
          <p:nvPr/>
        </p:nvSpPr>
        <p:spPr>
          <a:xfrm>
            <a:off x="8046720" y="2331720"/>
            <a:ext cx="36576" cy="54864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331720"/>
            <a:ext cx="3474720" cy="457200"/>
          </a:xfrm>
          <a:prstGeom prst="rect">
            <a:avLst/>
          </a:prstGeom>
          <a:noFill/>
        </p:spPr>
        <p:txBody>
          <a:bodyPr wrap="square">
            <a:spAutoFit/>
          </a:bodyPr>
          <a:lstStyle/>
          <a:p>
            <a:pPr algn="l"/>
            <a:r>
              <a:rPr sz="1000" b="0" i="0">
                <a:solidFill>
                  <a:srgbClr val="E8E2D8"/>
                </a:solidFill>
                <a:latin typeface="DM Sans"/>
              </a:rPr>
              <a:t>Dark basalt base</a:t>
            </a:r>
          </a:p>
        </p:txBody>
      </p:sp>
      <p:sp>
        <p:nvSpPr>
          <p:cNvPr id="11" name="Rectangle 10"/>
          <p:cNvSpPr/>
          <p:nvPr/>
        </p:nvSpPr>
        <p:spPr>
          <a:xfrm>
            <a:off x="8046720" y="3291840"/>
            <a:ext cx="36576" cy="54864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3291840"/>
            <a:ext cx="3474720" cy="457200"/>
          </a:xfrm>
          <a:prstGeom prst="rect">
            <a:avLst/>
          </a:prstGeom>
          <a:noFill/>
        </p:spPr>
        <p:txBody>
          <a:bodyPr wrap="square">
            <a:spAutoFit/>
          </a:bodyPr>
          <a:lstStyle/>
          <a:p>
            <a:pPr algn="l"/>
            <a:r>
              <a:rPr sz="1000" b="0" i="0">
                <a:solidFill>
                  <a:srgbClr val="E8E2D8"/>
                </a:solidFill>
                <a:latin typeface="DM Sans"/>
              </a:rPr>
              <a:t>Cantilevered roof</a:t>
            </a:r>
          </a:p>
        </p:txBody>
      </p:sp>
      <p:sp>
        <p:nvSpPr>
          <p:cNvPr id="13" name="Rectangle 12"/>
          <p:cNvSpPr/>
          <p:nvPr/>
        </p:nvSpPr>
        <p:spPr>
          <a:xfrm>
            <a:off x="8046720" y="4251960"/>
            <a:ext cx="36576" cy="54864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251960"/>
            <a:ext cx="3474720" cy="457200"/>
          </a:xfrm>
          <a:prstGeom prst="rect">
            <a:avLst/>
          </a:prstGeom>
          <a:noFill/>
        </p:spPr>
        <p:txBody>
          <a:bodyPr wrap="square">
            <a:spAutoFit/>
          </a:bodyPr>
          <a:lstStyle/>
          <a:p>
            <a:pPr algn="l"/>
            <a:r>
              <a:rPr sz="1000" b="0" i="0">
                <a:solidFill>
                  <a:srgbClr val="E8E2D8"/>
                </a:solidFill>
                <a:latin typeface="DM Sans"/>
              </a:rPr>
              <a:t>Teak pivot door</a:t>
            </a:r>
          </a:p>
        </p:txBody>
      </p:sp>
      <p:sp>
        <p:nvSpPr>
          <p:cNvPr id="15" name="Rectangle 14"/>
          <p:cNvSpPr/>
          <p:nvPr/>
        </p:nvSpPr>
        <p:spPr>
          <a:xfrm>
            <a:off x="8046720" y="5212080"/>
            <a:ext cx="36576" cy="54864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5212080"/>
            <a:ext cx="3474720" cy="457200"/>
          </a:xfrm>
          <a:prstGeom prst="rect">
            <a:avLst/>
          </a:prstGeom>
          <a:noFill/>
        </p:spPr>
        <p:txBody>
          <a:bodyPr wrap="square">
            <a:spAutoFit/>
          </a:bodyPr>
          <a:lstStyle/>
          <a:p>
            <a:pPr algn="l"/>
            <a:r>
              <a:rPr sz="1000" b="0" i="0">
                <a:solidFill>
                  <a:srgbClr val="E8E2D8"/>
                </a:solidFill>
                <a:latin typeface="DM Sans"/>
              </a:rPr>
              <a:t>Floor-to-ceiling glazing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3657600" cy="228600"/>
          </a:xfrm>
          <a:prstGeom prst="rect">
            <a:avLst/>
          </a:prstGeom>
          <a:noFill/>
        </p:spPr>
        <p:txBody>
          <a:bodyPr wrap="square">
            <a:spAutoFit/>
          </a:bodyPr>
          <a:lstStyle/>
          <a:p>
            <a:pPr algn="l"/>
            <a:r>
              <a:rPr sz="800" b="0" i="0">
                <a:solidFill>
                  <a:srgbClr val="C9A96E"/>
                </a:solidFill>
                <a:latin typeface="DM Sans"/>
              </a:rPr>
              <a:t>THE VILLA</a:t>
            </a:r>
          </a:p>
        </p:txBody>
      </p:sp>
      <p:cxnSp>
        <p:nvCxnSpPr>
          <p:cNvPr id="4" name="Connector 3"/>
          <p:cNvCxnSpPr/>
          <p:nvPr/>
        </p:nvCxnSpPr>
        <p:spPr>
          <a:xfrm>
            <a:off x="1097280" y="196596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2148840"/>
            <a:ext cx="4754880" cy="1645920"/>
          </a:xfrm>
          <a:prstGeom prst="rect">
            <a:avLst/>
          </a:prstGeom>
          <a:noFill/>
        </p:spPr>
        <p:txBody>
          <a:bodyPr wrap="square">
            <a:spAutoFit/>
          </a:bodyPr>
          <a:lstStyle/>
          <a:p>
            <a:pPr algn="l">
              <a:spcAft>
                <a:spcPts val="800"/>
              </a:spcAft>
            </a:pPr>
            <a:r>
              <a:rPr sz="4200" i="1" b="0">
                <a:solidFill>
                  <a:srgbClr val="F5F1EC"/>
                </a:solidFill>
                <a:latin typeface="Cormorant Garamond"/>
              </a:rPr>
              <a:t>A home that knows</a:t>
            </a:r>
          </a:p>
          <a:p>
            <a:pPr algn="l">
              <a:spcAft>
                <a:spcPts val="800"/>
              </a:spcAft>
            </a:pPr>
            <a:r>
              <a:rPr sz="4200" i="1" b="0">
                <a:solidFill>
                  <a:srgbClr val="F5F1EC"/>
                </a:solidFill>
                <a:latin typeface="Cormorant Garamond"/>
              </a:rPr>
              <a:t>when to step back.</a:t>
            </a:r>
          </a:p>
        </p:txBody>
      </p:sp>
      <p:sp>
        <p:nvSpPr>
          <p:cNvPr id="6" name="TextBox 5"/>
          <p:cNvSpPr txBox="1"/>
          <p:nvPr/>
        </p:nvSpPr>
        <p:spPr>
          <a:xfrm>
            <a:off x="1097280" y="4023360"/>
            <a:ext cx="4754880" cy="1828800"/>
          </a:xfrm>
          <a:prstGeom prst="rect">
            <a:avLst/>
          </a:prstGeom>
          <a:noFill/>
        </p:spPr>
        <p:txBody>
          <a:bodyPr wrap="square">
            <a:spAutoFit/>
          </a:bodyPr>
          <a:lstStyle/>
          <a:p>
            <a:pPr algn="l"/>
            <a:r>
              <a:rPr sz="1050" b="0" i="0">
                <a:solidFill>
                  <a:srgbClr val="E8E2D8"/>
                </a:solidFill>
                <a:latin typeface="DM Sans"/>
              </a:rPr>
              <a:t>The living spaces open fully to the outdoors. There is no front of house and back of house — the whole villa is the front. Bedrooms face the pool. The kitchen faces the garden. The roof is a horizontal plane that makes the sky feel deliberately framed. Living here is an act of attention.</a:t>
            </a:r>
          </a:p>
        </p:txBody>
      </p:sp>
      <p:sp>
        <p:nvSpPr>
          <p:cNvPr id="7" name="Rectangle 6"/>
          <p:cNvSpPr/>
          <p:nvPr/>
        </p:nvSpPr>
        <p:spPr>
          <a:xfrm>
            <a:off x="6858000" y="457200"/>
            <a:ext cx="5120640" cy="5943600"/>
          </a:xfrm>
          <a:prstGeom prst="rect">
            <a:avLst/>
          </a:prstGeom>
          <a:solidFill>
            <a:srgbClr val="383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0" y="3108960"/>
            <a:ext cx="4937760" cy="457200"/>
          </a:xfrm>
          <a:prstGeom prst="rect">
            <a:avLst/>
          </a:prstGeom>
          <a:noFill/>
        </p:spPr>
        <p:txBody>
          <a:bodyPr wrap="square">
            <a:spAutoFit/>
          </a:bodyPr>
          <a:lstStyle/>
          <a:p>
            <a:pPr algn="ctr"/>
            <a:r>
              <a:rPr sz="900" b="0" i="0">
                <a:solidFill>
                  <a:srgbClr val="605852"/>
                </a:solidFill>
                <a:latin typeface="DM Sans"/>
              </a:rPr>
              <a:t>[ Villa interior photography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A2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0" y="3017520"/>
            <a:ext cx="6702552" cy="548640"/>
          </a:xfrm>
          <a:prstGeom prst="rect">
            <a:avLst/>
          </a:prstGeom>
          <a:noFill/>
        </p:spPr>
        <p:txBody>
          <a:bodyPr wrap="square">
            <a:spAutoFit/>
          </a:bodyPr>
          <a:lstStyle/>
          <a:p>
            <a:pPr algn="ctr"/>
            <a:r>
              <a:rPr sz="900" b="0" i="0">
                <a:solidFill>
                  <a:srgbClr val="556560"/>
                </a:solidFill>
                <a:latin typeface="DM Sans"/>
              </a:rPr>
              <a:t>[ Private pool photography — dawn, still water, limestone deck ]</a:t>
            </a:r>
          </a:p>
        </p:txBody>
      </p:sp>
      <p:sp>
        <p:nvSpPr>
          <p:cNvPr id="5" name="TextBox 4"/>
          <p:cNvSpPr txBox="1"/>
          <p:nvPr/>
        </p:nvSpPr>
        <p:spPr>
          <a:xfrm>
            <a:off x="1097280" y="5120640"/>
            <a:ext cx="3657600" cy="228600"/>
          </a:xfrm>
          <a:prstGeom prst="rect">
            <a:avLst/>
          </a:prstGeom>
          <a:noFill/>
        </p:spPr>
        <p:txBody>
          <a:bodyPr wrap="square">
            <a:spAutoFit/>
          </a:bodyPr>
          <a:lstStyle/>
          <a:p>
            <a:pPr algn="l"/>
            <a:r>
              <a:rPr sz="800" b="0" i="0">
                <a:solidFill>
                  <a:srgbClr val="C9A96E"/>
                </a:solidFill>
                <a:latin typeface="DM Sans"/>
              </a:rPr>
              <a:t>PRIVATE POOL</a:t>
            </a:r>
          </a:p>
        </p:txBody>
      </p:sp>
      <p:cxnSp>
        <p:nvCxnSpPr>
          <p:cNvPr id="6" name="Connector 5"/>
          <p:cNvCxnSpPr/>
          <p:nvPr/>
        </p:nvCxnSpPr>
        <p:spPr>
          <a:xfrm>
            <a:off x="1097280" y="5440680"/>
            <a:ext cx="27432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7280" y="5577840"/>
            <a:ext cx="5486400" cy="822960"/>
          </a:xfrm>
          <a:prstGeom prst="rect">
            <a:avLst/>
          </a:prstGeom>
          <a:noFill/>
        </p:spPr>
        <p:txBody>
          <a:bodyPr wrap="square">
            <a:spAutoFit/>
          </a:bodyPr>
          <a:lstStyle/>
          <a:p>
            <a:pPr algn="l"/>
            <a:r>
              <a:rPr sz="4800" b="0" i="1">
                <a:solidFill>
                  <a:srgbClr val="F5F1EC"/>
                </a:solidFill>
                <a:latin typeface="Cormorant Garamond"/>
              </a:rPr>
              <a:t>Yours. Only yours.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2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4572000" cy="228600"/>
          </a:xfrm>
          <a:prstGeom prst="rect">
            <a:avLst/>
          </a:prstGeom>
          <a:noFill/>
        </p:spPr>
        <p:txBody>
          <a:bodyPr wrap="square">
            <a:spAutoFit/>
          </a:bodyPr>
          <a:lstStyle/>
          <a:p>
            <a:pPr algn="l"/>
            <a:r>
              <a:rPr sz="800" b="0" i="0">
                <a:solidFill>
                  <a:srgbClr val="C9A96E"/>
                </a:solidFill>
                <a:latin typeface="DM Sans"/>
              </a:rPr>
              <a:t>THE GREEN CIRCUIT</a:t>
            </a:r>
          </a:p>
        </p:txBody>
      </p:sp>
      <p:cxnSp>
        <p:nvCxnSpPr>
          <p:cNvPr id="4" name="Connector 3"/>
          <p:cNvCxnSpPr/>
          <p:nvPr/>
        </p:nvCxnSpPr>
        <p:spPr>
          <a:xfrm>
            <a:off x="1097280" y="1783080"/>
            <a:ext cx="256032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965960"/>
            <a:ext cx="4754880" cy="2194560"/>
          </a:xfrm>
          <a:prstGeom prst="rect">
            <a:avLst/>
          </a:prstGeom>
          <a:noFill/>
        </p:spPr>
        <p:txBody>
          <a:bodyPr wrap="square">
            <a:spAutoFit/>
          </a:bodyPr>
          <a:lstStyle/>
          <a:p>
            <a:pPr algn="l">
              <a:spcAft>
                <a:spcPts val="400"/>
              </a:spcAft>
            </a:pPr>
            <a:r>
              <a:rPr sz="3800" i="1" b="0">
                <a:solidFill>
                  <a:srgbClr val="F5F1EC"/>
                </a:solidFill>
                <a:latin typeface="Cormorant Garamond"/>
              </a:rPr>
              <a:t>Native trees.</a:t>
            </a:r>
          </a:p>
          <a:p>
            <a:pPr algn="l">
              <a:spcAft>
                <a:spcPts val="400"/>
              </a:spcAft>
            </a:pPr>
            <a:r>
              <a:rPr sz="3800" i="1" b="0">
                <a:solidFill>
                  <a:srgbClr val="F5F1EC"/>
                </a:solidFill>
                <a:latin typeface="Cormorant Garamond"/>
              </a:rPr>
              <a:t>Continuous ground.</a:t>
            </a:r>
          </a:p>
          <a:p>
            <a:pPr algn="l">
              <a:spcAft>
                <a:spcPts val="400"/>
              </a:spcAft>
            </a:pPr>
            <a:r>
              <a:rPr sz="3800" i="1" b="0">
                <a:solidFill>
                  <a:srgbClr val="F5F1EC"/>
                </a:solidFill>
                <a:latin typeface="Cormorant Garamond"/>
              </a:rPr>
              <a:t>No fences between.</a:t>
            </a:r>
          </a:p>
        </p:txBody>
      </p:sp>
      <p:sp>
        <p:nvSpPr>
          <p:cNvPr id="6" name="TextBox 5"/>
          <p:cNvSpPr txBox="1"/>
          <p:nvPr/>
        </p:nvSpPr>
        <p:spPr>
          <a:xfrm>
            <a:off x="1097280" y="4434840"/>
            <a:ext cx="4937760" cy="1737360"/>
          </a:xfrm>
          <a:prstGeom prst="rect">
            <a:avLst/>
          </a:prstGeom>
          <a:noFill/>
        </p:spPr>
        <p:txBody>
          <a:bodyPr wrap="square">
            <a:spAutoFit/>
          </a:bodyPr>
          <a:lstStyle/>
          <a:p>
            <a:pPr algn="l"/>
            <a:r>
              <a:rPr sz="1050" b="0" i="0">
                <a:solidFill>
                  <a:srgbClr val="C8D4C0"/>
                </a:solidFill>
                <a:latin typeface="DM Sans"/>
              </a:rPr>
              <a:t>The landscape at Virāma is not decoration. The Green Circuit is a continuous corridor of native Deccan plantings — fig, neem, Indian coral — that weaves between and behind the villas without interruption. The estate breathes as one organism. You are not separated from your neighbours by walls. You are separated by garden.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754880"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0" y="0"/>
            <a:ext cx="7799831" cy="6858000"/>
          </a:xfrm>
          <a:prstGeom prst="rect">
            <a:avLst/>
          </a:prstGeom>
          <a:solidFill>
            <a:srgbClr val="30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0" y="3017520"/>
            <a:ext cx="7406640" cy="457200"/>
          </a:xfrm>
          <a:prstGeom prst="rect">
            <a:avLst/>
          </a:prstGeom>
          <a:noFill/>
        </p:spPr>
        <p:txBody>
          <a:bodyPr wrap="square">
            <a:spAutoFit/>
          </a:bodyPr>
          <a:lstStyle/>
          <a:p>
            <a:pPr algn="ctr"/>
            <a:r>
              <a:rPr sz="900" b="0" i="0">
                <a:solidFill>
                  <a:srgbClr val="605040"/>
                </a:solidFill>
                <a:latin typeface="DM Sans"/>
              </a:rPr>
              <a:t>[ Teak pivot door — straight-on, door-handle height ]</a:t>
            </a:r>
          </a:p>
        </p:txBody>
      </p:sp>
      <p:sp>
        <p:nvSpPr>
          <p:cNvPr id="6" name="TextBox 5"/>
          <p:cNvSpPr txBox="1"/>
          <p:nvPr/>
        </p:nvSpPr>
        <p:spPr>
          <a:xfrm>
            <a:off x="914400" y="1645920"/>
            <a:ext cx="3474720" cy="228600"/>
          </a:xfrm>
          <a:prstGeom prst="rect">
            <a:avLst/>
          </a:prstGeom>
          <a:noFill/>
        </p:spPr>
        <p:txBody>
          <a:bodyPr wrap="square">
            <a:spAutoFit/>
          </a:bodyPr>
          <a:lstStyle/>
          <a:p>
            <a:pPr algn="l"/>
            <a:r>
              <a:rPr sz="800" b="0" i="0">
                <a:solidFill>
                  <a:srgbClr val="C9A96E"/>
                </a:solidFill>
                <a:latin typeface="DM Sans"/>
              </a:rPr>
              <a:t>ARRIVAL</a:t>
            </a:r>
          </a:p>
        </p:txBody>
      </p:sp>
      <p:cxnSp>
        <p:nvCxnSpPr>
          <p:cNvPr id="7" name="Connector 6"/>
          <p:cNvCxnSpPr/>
          <p:nvPr/>
        </p:nvCxnSpPr>
        <p:spPr>
          <a:xfrm>
            <a:off x="914400" y="196596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2148840"/>
            <a:ext cx="3474720" cy="1645920"/>
          </a:xfrm>
          <a:prstGeom prst="rect">
            <a:avLst/>
          </a:prstGeom>
          <a:noFill/>
        </p:spPr>
        <p:txBody>
          <a:bodyPr wrap="square">
            <a:spAutoFit/>
          </a:bodyPr>
          <a:lstStyle/>
          <a:p>
            <a:pPr algn="l">
              <a:spcAft>
                <a:spcPts val="800"/>
              </a:spcAft>
            </a:pPr>
            <a:r>
              <a:rPr sz="3600" i="1" b="0">
                <a:solidFill>
                  <a:srgbClr val="F5F1EC"/>
                </a:solidFill>
                <a:latin typeface="Cormorant Garamond"/>
              </a:rPr>
              <a:t>The door is the first</a:t>
            </a:r>
          </a:p>
          <a:p>
            <a:pPr algn="l">
              <a:spcAft>
                <a:spcPts val="800"/>
              </a:spcAft>
            </a:pPr>
            <a:r>
              <a:rPr sz="3600" i="1" b="0">
                <a:solidFill>
                  <a:srgbClr val="F5F1EC"/>
                </a:solidFill>
                <a:latin typeface="Cormorant Garamond"/>
              </a:rPr>
              <a:t>thing you understand.</a:t>
            </a:r>
          </a:p>
        </p:txBody>
      </p:sp>
      <p:sp>
        <p:nvSpPr>
          <p:cNvPr id="9" name="TextBox 8"/>
          <p:cNvSpPr txBox="1"/>
          <p:nvPr/>
        </p:nvSpPr>
        <p:spPr>
          <a:xfrm>
            <a:off x="914400" y="3931920"/>
            <a:ext cx="3474720" cy="1737360"/>
          </a:xfrm>
          <a:prstGeom prst="rect">
            <a:avLst/>
          </a:prstGeom>
          <a:noFill/>
        </p:spPr>
        <p:txBody>
          <a:bodyPr wrap="square">
            <a:spAutoFit/>
          </a:bodyPr>
          <a:lstStyle/>
          <a:p>
            <a:pPr algn="l"/>
            <a:r>
              <a:rPr sz="1050" b="0" i="0">
                <a:solidFill>
                  <a:srgbClr val="E8E2D8"/>
                </a:solidFill>
                <a:latin typeface="DM Sans"/>
              </a:rPr>
              <a:t>A teak pivot door, floor-to-ceiling, set in a deep limestone reveal. The forecourt is quiet — no waterfalls, no statement planting. Basalt stepping stones across pale gravel. The arrival sequence is brief and unhurried. You are not announced. You simply come home.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24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0" y="3108960"/>
            <a:ext cx="6702552" cy="457200"/>
          </a:xfrm>
          <a:prstGeom prst="rect">
            <a:avLst/>
          </a:prstGeom>
          <a:noFill/>
        </p:spPr>
        <p:txBody>
          <a:bodyPr wrap="square">
            <a:spAutoFit/>
          </a:bodyPr>
          <a:lstStyle/>
          <a:p>
            <a:pPr algn="ctr"/>
            <a:r>
              <a:rPr sz="900" b="0" i="0">
                <a:solidFill>
                  <a:srgbClr val="555048"/>
                </a:solidFill>
                <a:latin typeface="DM Sans"/>
              </a:rPr>
              <a:t>[ Common pavilion — wide angle, open sides, garden beyond ]</a:t>
            </a:r>
          </a:p>
        </p:txBody>
      </p:sp>
      <p:sp>
        <p:nvSpPr>
          <p:cNvPr id="5" name="TextBox 4"/>
          <p:cNvSpPr txBox="1"/>
          <p:nvPr/>
        </p:nvSpPr>
        <p:spPr>
          <a:xfrm>
            <a:off x="1097280" y="4846320"/>
            <a:ext cx="4572000" cy="228600"/>
          </a:xfrm>
          <a:prstGeom prst="rect">
            <a:avLst/>
          </a:prstGeom>
          <a:noFill/>
        </p:spPr>
        <p:txBody>
          <a:bodyPr wrap="square">
            <a:spAutoFit/>
          </a:bodyPr>
          <a:lstStyle/>
          <a:p>
            <a:pPr algn="l"/>
            <a:r>
              <a:rPr sz="800" b="0" i="0">
                <a:solidFill>
                  <a:srgbClr val="C9A96E"/>
                </a:solidFill>
                <a:latin typeface="DM Sans"/>
              </a:rPr>
              <a:t>THE PAVILION</a:t>
            </a:r>
          </a:p>
        </p:txBody>
      </p:sp>
      <p:cxnSp>
        <p:nvCxnSpPr>
          <p:cNvPr id="6" name="Connector 5"/>
          <p:cNvCxnSpPr/>
          <p:nvPr/>
        </p:nvCxnSpPr>
        <p:spPr>
          <a:xfrm>
            <a:off x="1097280" y="5166360"/>
            <a:ext cx="256032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7280" y="5321808"/>
            <a:ext cx="5486400" cy="1097280"/>
          </a:xfrm>
          <a:prstGeom prst="rect">
            <a:avLst/>
          </a:prstGeom>
          <a:noFill/>
        </p:spPr>
        <p:txBody>
          <a:bodyPr wrap="square">
            <a:spAutoFit/>
          </a:bodyPr>
          <a:lstStyle/>
          <a:p>
            <a:pPr algn="l">
              <a:spcAft>
                <a:spcPts val="400"/>
              </a:spcAft>
            </a:pPr>
            <a:r>
              <a:rPr sz="3800" i="1" b="0">
                <a:solidFill>
                  <a:srgbClr val="F5F1EC"/>
                </a:solidFill>
                <a:latin typeface="Cormorant Garamond"/>
              </a:rPr>
              <a:t>A room that belongs</a:t>
            </a:r>
          </a:p>
          <a:p>
            <a:pPr algn="l">
              <a:spcAft>
                <a:spcPts val="400"/>
              </a:spcAft>
            </a:pPr>
            <a:r>
              <a:rPr sz="3800" i="1" b="0">
                <a:solidFill>
                  <a:srgbClr val="F5F1EC"/>
                </a:solidFill>
                <a:latin typeface="Cormorant Garamond"/>
              </a:rPr>
              <a:t>to all twelve.</a:t>
            </a:r>
          </a:p>
        </p:txBody>
      </p:sp>
      <p:sp>
        <p:nvSpPr>
          <p:cNvPr id="8" name="TextBox 7"/>
          <p:cNvSpPr txBox="1"/>
          <p:nvPr/>
        </p:nvSpPr>
        <p:spPr>
          <a:xfrm>
            <a:off x="1097280" y="3657600"/>
            <a:ext cx="5029200" cy="1097280"/>
          </a:xfrm>
          <a:prstGeom prst="rect">
            <a:avLst/>
          </a:prstGeom>
          <a:noFill/>
        </p:spPr>
        <p:txBody>
          <a:bodyPr wrap="square">
            <a:spAutoFit/>
          </a:bodyPr>
          <a:lstStyle/>
          <a:p>
            <a:pPr algn="l"/>
            <a:r>
              <a:rPr sz="1050" b="0" i="0">
                <a:solidFill>
                  <a:srgbClr val="E8E2D8"/>
                </a:solidFill>
                <a:latin typeface="DM Sans"/>
              </a:rPr>
              <a:t>The Pavilion is the estate's single shared space — open on three sides to the garden. No gym, no concierge desk, no co-working nook. There is a long table, good light, and the sound of wind through the canopy.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228600"/>
          </a:xfrm>
          <a:prstGeom prst="rect">
            <a:avLst/>
          </a:prstGeom>
          <a:noFill/>
        </p:spPr>
        <p:txBody>
          <a:bodyPr wrap="square">
            <a:spAutoFit/>
          </a:bodyPr>
          <a:lstStyle/>
          <a:p>
            <a:pPr algn="l"/>
            <a:r>
              <a:rPr sz="800" b="0" i="0">
                <a:solidFill>
                  <a:srgbClr val="C9A96E"/>
                </a:solidFill>
                <a:latin typeface="DM Sans"/>
              </a:rPr>
              <a:t>AT A GLANCE</a:t>
            </a:r>
          </a:p>
        </p:txBody>
      </p:sp>
      <p:cxnSp>
        <p:nvCxnSpPr>
          <p:cNvPr id="4" name="Connector 3"/>
          <p:cNvCxnSpPr/>
          <p:nvPr/>
        </p:nvCxnSpPr>
        <p:spPr>
          <a:xfrm>
            <a:off x="1097280" y="105156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234440"/>
            <a:ext cx="4572000" cy="1828800"/>
          </a:xfrm>
          <a:prstGeom prst="rect">
            <a:avLst/>
          </a:prstGeom>
          <a:noFill/>
        </p:spPr>
        <p:txBody>
          <a:bodyPr wrap="square">
            <a:spAutoFit/>
          </a:bodyPr>
          <a:lstStyle/>
          <a:p>
            <a:pPr algn="l">
              <a:spcAft>
                <a:spcPts val="400"/>
              </a:spcAft>
            </a:pPr>
            <a:r>
              <a:rPr sz="3600" i="1" b="0">
                <a:solidFill>
                  <a:srgbClr val="2C2825"/>
                </a:solidFill>
                <a:latin typeface="Cormorant Garamond"/>
              </a:rPr>
              <a:t>Twelve villas.</a:t>
            </a:r>
          </a:p>
          <a:p>
            <a:pPr algn="l">
              <a:spcAft>
                <a:spcPts val="400"/>
              </a:spcAft>
            </a:pPr>
            <a:r>
              <a:rPr sz="3600" i="1" b="0">
                <a:solidFill>
                  <a:srgbClr val="2C2825"/>
                </a:solidFill>
                <a:latin typeface="Cormorant Garamond"/>
              </a:rPr>
              <a:t>One estate.</a:t>
            </a:r>
          </a:p>
          <a:p>
            <a:pPr algn="l">
              <a:spcAft>
                <a:spcPts val="400"/>
              </a:spcAft>
            </a:pPr>
            <a:r>
              <a:rPr sz="3600" i="1" b="0">
                <a:solidFill>
                  <a:srgbClr val="2C2825"/>
                </a:solidFill>
                <a:latin typeface="Cormorant Garamond"/>
              </a:rPr>
              <a:t>One address.</a:t>
            </a:r>
          </a:p>
        </p:txBody>
      </p:sp>
      <p:sp>
        <p:nvSpPr>
          <p:cNvPr id="6" name="TextBox 5"/>
          <p:cNvSpPr txBox="1"/>
          <p:nvPr/>
        </p:nvSpPr>
        <p:spPr>
          <a:xfrm>
            <a:off x="1097280" y="3291840"/>
            <a:ext cx="3200400" cy="274320"/>
          </a:xfrm>
          <a:prstGeom prst="rect">
            <a:avLst/>
          </a:prstGeom>
          <a:noFill/>
        </p:spPr>
        <p:txBody>
          <a:bodyPr wrap="square">
            <a:spAutoFit/>
          </a:bodyPr>
          <a:lstStyle/>
          <a:p>
            <a:pPr algn="l"/>
            <a:r>
              <a:rPr sz="750" b="0" i="0">
                <a:solidFill>
                  <a:srgbClr val="4A4440"/>
                </a:solidFill>
                <a:latin typeface="DM Sans"/>
              </a:rPr>
              <a:t>VILLAS</a:t>
            </a:r>
          </a:p>
        </p:txBody>
      </p:sp>
      <p:cxnSp>
        <p:nvCxnSpPr>
          <p:cNvPr id="7" name="Connector 6"/>
          <p:cNvCxnSpPr/>
          <p:nvPr/>
        </p:nvCxnSpPr>
        <p:spPr>
          <a:xfrm>
            <a:off x="1097280" y="354787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97280" y="3611880"/>
            <a:ext cx="3474720" cy="502920"/>
          </a:xfrm>
          <a:prstGeom prst="rect">
            <a:avLst/>
          </a:prstGeom>
          <a:noFill/>
        </p:spPr>
        <p:txBody>
          <a:bodyPr wrap="square">
            <a:spAutoFit/>
          </a:bodyPr>
          <a:lstStyle/>
          <a:p>
            <a:pPr algn="l"/>
            <a:r>
              <a:rPr sz="1100" b="0" i="0">
                <a:solidFill>
                  <a:srgbClr val="2C2825"/>
                </a:solidFill>
                <a:latin typeface="DM Sans"/>
              </a:rPr>
              <a:t>12 private homes, each with individual pool</a:t>
            </a:r>
          </a:p>
        </p:txBody>
      </p:sp>
      <p:sp>
        <p:nvSpPr>
          <p:cNvPr id="9" name="TextBox 8"/>
          <p:cNvSpPr txBox="1"/>
          <p:nvPr/>
        </p:nvSpPr>
        <p:spPr>
          <a:xfrm>
            <a:off x="1097280" y="4297680"/>
            <a:ext cx="3200400" cy="274320"/>
          </a:xfrm>
          <a:prstGeom prst="rect">
            <a:avLst/>
          </a:prstGeom>
          <a:noFill/>
        </p:spPr>
        <p:txBody>
          <a:bodyPr wrap="square">
            <a:spAutoFit/>
          </a:bodyPr>
          <a:lstStyle/>
          <a:p>
            <a:pPr algn="l"/>
            <a:r>
              <a:rPr sz="750" b="0" i="0">
                <a:solidFill>
                  <a:srgbClr val="4A4440"/>
                </a:solidFill>
                <a:latin typeface="DM Sans"/>
              </a:rPr>
              <a:t>PRICE</a:t>
            </a:r>
          </a:p>
        </p:txBody>
      </p:sp>
      <p:cxnSp>
        <p:nvCxnSpPr>
          <p:cNvPr id="10" name="Connector 9"/>
          <p:cNvCxnSpPr/>
          <p:nvPr/>
        </p:nvCxnSpPr>
        <p:spPr>
          <a:xfrm>
            <a:off x="1097280" y="455371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97280" y="4617720"/>
            <a:ext cx="3474720" cy="502920"/>
          </a:xfrm>
          <a:prstGeom prst="rect">
            <a:avLst/>
          </a:prstGeom>
          <a:noFill/>
        </p:spPr>
        <p:txBody>
          <a:bodyPr wrap="square">
            <a:spAutoFit/>
          </a:bodyPr>
          <a:lstStyle/>
          <a:p>
            <a:pPr algn="l"/>
            <a:r>
              <a:rPr sz="1100" b="0" i="0">
                <a:solidFill>
                  <a:srgbClr val="2C2825"/>
                </a:solidFill>
                <a:latin typeface="DM Sans"/>
              </a:rPr>
              <a:t>Rs 13 Crore to Rs 20 Crore</a:t>
            </a:r>
          </a:p>
        </p:txBody>
      </p:sp>
      <p:sp>
        <p:nvSpPr>
          <p:cNvPr id="12" name="TextBox 11"/>
          <p:cNvSpPr txBox="1"/>
          <p:nvPr/>
        </p:nvSpPr>
        <p:spPr>
          <a:xfrm>
            <a:off x="1097280" y="5303520"/>
            <a:ext cx="3200400" cy="274320"/>
          </a:xfrm>
          <a:prstGeom prst="rect">
            <a:avLst/>
          </a:prstGeom>
          <a:noFill/>
        </p:spPr>
        <p:txBody>
          <a:bodyPr wrap="square">
            <a:spAutoFit/>
          </a:bodyPr>
          <a:lstStyle/>
          <a:p>
            <a:pPr algn="l"/>
            <a:r>
              <a:rPr sz="750" b="0" i="0">
                <a:solidFill>
                  <a:srgbClr val="4A4440"/>
                </a:solidFill>
                <a:latin typeface="DM Sans"/>
              </a:rPr>
              <a:t>LOCATION</a:t>
            </a:r>
          </a:p>
        </p:txBody>
      </p:sp>
      <p:cxnSp>
        <p:nvCxnSpPr>
          <p:cNvPr id="13" name="Connector 12"/>
          <p:cNvCxnSpPr/>
          <p:nvPr/>
        </p:nvCxnSpPr>
        <p:spPr>
          <a:xfrm>
            <a:off x="1097280" y="555955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97280" y="5623560"/>
            <a:ext cx="3474720" cy="502920"/>
          </a:xfrm>
          <a:prstGeom prst="rect">
            <a:avLst/>
          </a:prstGeom>
          <a:noFill/>
        </p:spPr>
        <p:txBody>
          <a:bodyPr wrap="square">
            <a:spAutoFit/>
          </a:bodyPr>
          <a:lstStyle/>
          <a:p>
            <a:pPr algn="l"/>
            <a:r>
              <a:rPr sz="1100" b="0" i="0">
                <a:solidFill>
                  <a:srgbClr val="2C2825"/>
                </a:solidFill>
                <a:latin typeface="DM Sans"/>
              </a:rPr>
              <a:t>Prashashan Nagar, Jubilee Hills, Hyderabad</a:t>
            </a:r>
          </a:p>
        </p:txBody>
      </p:sp>
      <p:sp>
        <p:nvSpPr>
          <p:cNvPr id="15" name="TextBox 14"/>
          <p:cNvSpPr txBox="1"/>
          <p:nvPr/>
        </p:nvSpPr>
        <p:spPr>
          <a:xfrm>
            <a:off x="1097280" y="6309360"/>
            <a:ext cx="3200400" cy="274320"/>
          </a:xfrm>
          <a:prstGeom prst="rect">
            <a:avLst/>
          </a:prstGeom>
          <a:noFill/>
        </p:spPr>
        <p:txBody>
          <a:bodyPr wrap="square">
            <a:spAutoFit/>
          </a:bodyPr>
          <a:lstStyle/>
          <a:p>
            <a:pPr algn="l"/>
            <a:r>
              <a:rPr sz="750" b="0" i="0">
                <a:solidFill>
                  <a:srgbClr val="4A4440"/>
                </a:solidFill>
                <a:latin typeface="DM Sans"/>
              </a:rPr>
              <a:t>CONFIGURATION</a:t>
            </a:r>
          </a:p>
        </p:txBody>
      </p:sp>
      <p:cxnSp>
        <p:nvCxnSpPr>
          <p:cNvPr id="16" name="Connector 15"/>
          <p:cNvCxnSpPr/>
          <p:nvPr/>
        </p:nvCxnSpPr>
        <p:spPr>
          <a:xfrm>
            <a:off x="1097280" y="656539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97280" y="6629400"/>
            <a:ext cx="3474720" cy="502920"/>
          </a:xfrm>
          <a:prstGeom prst="rect">
            <a:avLst/>
          </a:prstGeom>
          <a:noFill/>
        </p:spPr>
        <p:txBody>
          <a:bodyPr wrap="square">
            <a:spAutoFit/>
          </a:bodyPr>
          <a:lstStyle/>
          <a:p>
            <a:pPr algn="l"/>
            <a:r>
              <a:rPr sz="1100" b="0" i="0">
                <a:solidFill>
                  <a:srgbClr val="2C2825"/>
                </a:solidFill>
                <a:latin typeface="DM Sans"/>
              </a:rPr>
              <a:t>Single storey · 4 BHK + Study</a:t>
            </a:r>
          </a:p>
        </p:txBody>
      </p:sp>
      <p:sp>
        <p:nvSpPr>
          <p:cNvPr id="18" name="TextBox 17"/>
          <p:cNvSpPr txBox="1"/>
          <p:nvPr/>
        </p:nvSpPr>
        <p:spPr>
          <a:xfrm>
            <a:off x="6400800" y="3291840"/>
            <a:ext cx="3200400" cy="274320"/>
          </a:xfrm>
          <a:prstGeom prst="rect">
            <a:avLst/>
          </a:prstGeom>
          <a:noFill/>
        </p:spPr>
        <p:txBody>
          <a:bodyPr wrap="square">
            <a:spAutoFit/>
          </a:bodyPr>
          <a:lstStyle/>
          <a:p>
            <a:pPr algn="l"/>
            <a:r>
              <a:rPr sz="750" b="0" i="0">
                <a:solidFill>
                  <a:srgbClr val="4A4440"/>
                </a:solidFill>
                <a:latin typeface="DM Sans"/>
              </a:rPr>
              <a:t>POSSESSION</a:t>
            </a:r>
          </a:p>
        </p:txBody>
      </p:sp>
      <p:cxnSp>
        <p:nvCxnSpPr>
          <p:cNvPr id="19" name="Connector 18"/>
          <p:cNvCxnSpPr/>
          <p:nvPr/>
        </p:nvCxnSpPr>
        <p:spPr>
          <a:xfrm>
            <a:off x="6400800" y="354787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0" y="3611880"/>
            <a:ext cx="3474720" cy="502920"/>
          </a:xfrm>
          <a:prstGeom prst="rect">
            <a:avLst/>
          </a:prstGeom>
          <a:noFill/>
        </p:spPr>
        <p:txBody>
          <a:bodyPr wrap="square">
            <a:spAutoFit/>
          </a:bodyPr>
          <a:lstStyle/>
          <a:p>
            <a:pPr algn="l"/>
            <a:r>
              <a:rPr sz="1100" b="0" i="0">
                <a:solidFill>
                  <a:srgbClr val="2C2825"/>
                </a:solidFill>
                <a:latin typeface="DM Sans"/>
              </a:rPr>
              <a:t>[Possession quarter / year — TBC]</a:t>
            </a:r>
          </a:p>
        </p:txBody>
      </p:sp>
      <p:sp>
        <p:nvSpPr>
          <p:cNvPr id="21" name="TextBox 20"/>
          <p:cNvSpPr txBox="1"/>
          <p:nvPr/>
        </p:nvSpPr>
        <p:spPr>
          <a:xfrm>
            <a:off x="6400800" y="4297680"/>
            <a:ext cx="3200400" cy="274320"/>
          </a:xfrm>
          <a:prstGeom prst="rect">
            <a:avLst/>
          </a:prstGeom>
          <a:noFill/>
        </p:spPr>
        <p:txBody>
          <a:bodyPr wrap="square">
            <a:spAutoFit/>
          </a:bodyPr>
          <a:lstStyle/>
          <a:p>
            <a:pPr algn="l"/>
            <a:r>
              <a:rPr sz="750" b="0" i="0">
                <a:solidFill>
                  <a:srgbClr val="4A4440"/>
                </a:solidFill>
                <a:latin typeface="DM Sans"/>
              </a:rPr>
              <a:t>RERA</a:t>
            </a:r>
          </a:p>
        </p:txBody>
      </p:sp>
      <p:cxnSp>
        <p:nvCxnSpPr>
          <p:cNvPr id="22" name="Connector 21"/>
          <p:cNvCxnSpPr/>
          <p:nvPr/>
        </p:nvCxnSpPr>
        <p:spPr>
          <a:xfrm>
            <a:off x="6400800" y="455371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0" y="4617720"/>
            <a:ext cx="3474720" cy="502920"/>
          </a:xfrm>
          <a:prstGeom prst="rect">
            <a:avLst/>
          </a:prstGeom>
          <a:noFill/>
        </p:spPr>
        <p:txBody>
          <a:bodyPr wrap="square">
            <a:spAutoFit/>
          </a:bodyPr>
          <a:lstStyle/>
          <a:p>
            <a:pPr algn="l"/>
            <a:r>
              <a:rPr sz="1100" b="0" i="0">
                <a:solidFill>
                  <a:srgbClr val="2C2825"/>
                </a:solidFill>
                <a:latin typeface="DM Sans"/>
              </a:rPr>
              <a:t>[RERA registration number — TBC]</a:t>
            </a:r>
          </a:p>
        </p:txBody>
      </p:sp>
      <p:sp>
        <p:nvSpPr>
          <p:cNvPr id="24" name="TextBox 23"/>
          <p:cNvSpPr txBox="1"/>
          <p:nvPr/>
        </p:nvSpPr>
        <p:spPr>
          <a:xfrm>
            <a:off x="6400800" y="5303520"/>
            <a:ext cx="3200400" cy="274320"/>
          </a:xfrm>
          <a:prstGeom prst="rect">
            <a:avLst/>
          </a:prstGeom>
          <a:noFill/>
        </p:spPr>
        <p:txBody>
          <a:bodyPr wrap="square">
            <a:spAutoFit/>
          </a:bodyPr>
          <a:lstStyle/>
          <a:p>
            <a:pPr algn="l"/>
            <a:r>
              <a:rPr sz="750" b="0" i="0">
                <a:solidFill>
                  <a:srgbClr val="4A4440"/>
                </a:solidFill>
                <a:latin typeface="DM Sans"/>
              </a:rPr>
              <a:t>DEVELOPER</a:t>
            </a:r>
          </a:p>
        </p:txBody>
      </p:sp>
      <p:cxnSp>
        <p:nvCxnSpPr>
          <p:cNvPr id="25" name="Connector 24"/>
          <p:cNvCxnSpPr/>
          <p:nvPr/>
        </p:nvCxnSpPr>
        <p:spPr>
          <a:xfrm>
            <a:off x="6400800" y="555955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0" y="5623560"/>
            <a:ext cx="3474720" cy="502920"/>
          </a:xfrm>
          <a:prstGeom prst="rect">
            <a:avLst/>
          </a:prstGeom>
          <a:noFill/>
        </p:spPr>
        <p:txBody>
          <a:bodyPr wrap="square">
            <a:spAutoFit/>
          </a:bodyPr>
          <a:lstStyle/>
          <a:p>
            <a:pPr algn="l"/>
            <a:r>
              <a:rPr sz="1100" b="0" i="0">
                <a:solidFill>
                  <a:srgbClr val="2C2825"/>
                </a:solidFill>
                <a:latin typeface="DM Sans"/>
              </a:rPr>
              <a:t>SSquare · Est. 1991</a:t>
            </a:r>
          </a:p>
        </p:txBody>
      </p:sp>
      <p:sp>
        <p:nvSpPr>
          <p:cNvPr id="27" name="TextBox 26"/>
          <p:cNvSpPr txBox="1"/>
          <p:nvPr/>
        </p:nvSpPr>
        <p:spPr>
          <a:xfrm>
            <a:off x="6400800" y="6309360"/>
            <a:ext cx="3200400" cy="274320"/>
          </a:xfrm>
          <a:prstGeom prst="rect">
            <a:avLst/>
          </a:prstGeom>
          <a:noFill/>
        </p:spPr>
        <p:txBody>
          <a:bodyPr wrap="square">
            <a:spAutoFit/>
          </a:bodyPr>
          <a:lstStyle/>
          <a:p>
            <a:pPr algn="l"/>
            <a:r>
              <a:rPr sz="750" b="0" i="0">
                <a:solidFill>
                  <a:srgbClr val="4A4440"/>
                </a:solidFill>
                <a:latin typeface="DM Sans"/>
              </a:rPr>
              <a:t>TAGLINE</a:t>
            </a:r>
          </a:p>
        </p:txBody>
      </p:sp>
      <p:cxnSp>
        <p:nvCxnSpPr>
          <p:cNvPr id="28" name="Connector 27"/>
          <p:cNvCxnSpPr/>
          <p:nvPr/>
        </p:nvCxnSpPr>
        <p:spPr>
          <a:xfrm>
            <a:off x="6400800" y="6565392"/>
            <a:ext cx="2926080" cy="0"/>
          </a:xfrm>
          <a:prstGeom prst="line">
            <a:avLst/>
          </a:prstGeom>
          <a:ln w="6350">
            <a:solidFill>
              <a:srgbClr val="C9A96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0" y="6629400"/>
            <a:ext cx="3474720" cy="502920"/>
          </a:xfrm>
          <a:prstGeom prst="rect">
            <a:avLst/>
          </a:prstGeom>
          <a:noFill/>
        </p:spPr>
        <p:txBody>
          <a:bodyPr wrap="square">
            <a:spAutoFit/>
          </a:bodyPr>
          <a:lstStyle/>
          <a:p>
            <a:pPr algn="l"/>
            <a:r>
              <a:rPr sz="1100" b="0" i="0">
                <a:solidFill>
                  <a:srgbClr val="2C2825"/>
                </a:solidFill>
                <a:latin typeface="DM Sans"/>
              </a:rPr>
              <a:t>"The Standard, Privately Held."</a:t>
            </a:r>
          </a:p>
        </p:txBody>
      </p:sp>
      <p:cxnSp>
        <p:nvCxnSpPr>
          <p:cNvPr id="30" name="Connector 29"/>
          <p:cNvCxnSpPr/>
          <p:nvPr/>
        </p:nvCxnSpPr>
        <p:spPr>
          <a:xfrm>
            <a:off x="6080760" y="3291840"/>
            <a:ext cx="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822960"/>
            <a:ext cx="4572000" cy="228600"/>
          </a:xfrm>
          <a:prstGeom prst="rect">
            <a:avLst/>
          </a:prstGeom>
          <a:noFill/>
        </p:spPr>
        <p:txBody>
          <a:bodyPr wrap="square">
            <a:spAutoFit/>
          </a:bodyPr>
          <a:lstStyle/>
          <a:p>
            <a:pPr algn="l"/>
            <a:r>
              <a:rPr sz="800" b="0" i="0">
                <a:solidFill>
                  <a:srgbClr val="C9A96E"/>
                </a:solidFill>
                <a:latin typeface="DM Sans"/>
              </a:rPr>
              <a:t>LOCATION CONNECTIVITY</a:t>
            </a:r>
          </a:p>
        </p:txBody>
      </p:sp>
      <p:cxnSp>
        <p:nvCxnSpPr>
          <p:cNvPr id="4" name="Connector 3"/>
          <p:cNvCxnSpPr/>
          <p:nvPr/>
        </p:nvCxnSpPr>
        <p:spPr>
          <a:xfrm>
            <a:off x="1097280" y="114300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325880"/>
            <a:ext cx="4114800" cy="1645920"/>
          </a:xfrm>
          <a:prstGeom prst="rect">
            <a:avLst/>
          </a:prstGeom>
          <a:noFill/>
        </p:spPr>
        <p:txBody>
          <a:bodyPr wrap="square">
            <a:spAutoFit/>
          </a:bodyPr>
          <a:lstStyle/>
          <a:p>
            <a:pPr algn="l">
              <a:spcAft>
                <a:spcPts val="400"/>
              </a:spcAft>
            </a:pPr>
            <a:r>
              <a:rPr sz="3200" i="1" b="0">
                <a:solidFill>
                  <a:srgbClr val="2C2825"/>
                </a:solidFill>
                <a:latin typeface="Cormorant Garamond"/>
              </a:rPr>
              <a:t>The city at a distance.</a:t>
            </a:r>
          </a:p>
          <a:p>
            <a:pPr algn="l">
              <a:spcAft>
                <a:spcPts val="400"/>
              </a:spcAft>
            </a:pPr>
            <a:r>
              <a:rPr sz="3200" i="1" b="0">
                <a:solidFill>
                  <a:srgbClr val="2C2825"/>
                </a:solidFill>
                <a:latin typeface="Cormorant Garamond"/>
              </a:rPr>
              <a:t>Everything you need</a:t>
            </a:r>
          </a:p>
          <a:p>
            <a:pPr algn="l">
              <a:spcAft>
                <a:spcPts val="400"/>
              </a:spcAft>
            </a:pPr>
            <a:r>
              <a:rPr sz="3200" i="1" b="0">
                <a:solidFill>
                  <a:srgbClr val="2C2825"/>
                </a:solidFill>
                <a:latin typeface="Cormorant Garamond"/>
              </a:rPr>
              <a:t>within four minutes.</a:t>
            </a:r>
          </a:p>
        </p:txBody>
      </p:sp>
      <p:sp>
        <p:nvSpPr>
          <p:cNvPr id="6" name="TextBox 5"/>
          <p:cNvSpPr txBox="1"/>
          <p:nvPr/>
        </p:nvSpPr>
        <p:spPr>
          <a:xfrm>
            <a:off x="1097280" y="3200400"/>
            <a:ext cx="1280160" cy="411480"/>
          </a:xfrm>
          <a:prstGeom prst="rect">
            <a:avLst/>
          </a:prstGeom>
          <a:noFill/>
        </p:spPr>
        <p:txBody>
          <a:bodyPr wrap="square">
            <a:spAutoFit/>
          </a:bodyPr>
          <a:lstStyle/>
          <a:p>
            <a:pPr algn="l"/>
            <a:r>
              <a:rPr sz="1800" b="0" i="1">
                <a:solidFill>
                  <a:srgbClr val="C9A96E"/>
                </a:solidFill>
                <a:latin typeface="Cormorant Garamond"/>
              </a:rPr>
              <a:t>4 min</a:t>
            </a:r>
          </a:p>
        </p:txBody>
      </p:sp>
      <p:sp>
        <p:nvSpPr>
          <p:cNvPr id="7" name="TextBox 6"/>
          <p:cNvSpPr txBox="1"/>
          <p:nvPr/>
        </p:nvSpPr>
        <p:spPr>
          <a:xfrm>
            <a:off x="2468880" y="3246120"/>
            <a:ext cx="3474720" cy="365760"/>
          </a:xfrm>
          <a:prstGeom prst="rect">
            <a:avLst/>
          </a:prstGeom>
          <a:noFill/>
        </p:spPr>
        <p:txBody>
          <a:bodyPr wrap="square">
            <a:spAutoFit/>
          </a:bodyPr>
          <a:lstStyle/>
          <a:p>
            <a:pPr algn="l"/>
            <a:r>
              <a:rPr sz="1000" b="0" i="0">
                <a:solidFill>
                  <a:srgbClr val="4A4440"/>
                </a:solidFill>
                <a:latin typeface="DM Sans"/>
              </a:rPr>
              <a:t>Jubilee Hills Club</a:t>
            </a:r>
          </a:p>
        </p:txBody>
      </p:sp>
      <p:sp>
        <p:nvSpPr>
          <p:cNvPr id="8" name="TextBox 7"/>
          <p:cNvSpPr txBox="1"/>
          <p:nvPr/>
        </p:nvSpPr>
        <p:spPr>
          <a:xfrm>
            <a:off x="1097280" y="3749039"/>
            <a:ext cx="1280160" cy="411480"/>
          </a:xfrm>
          <a:prstGeom prst="rect">
            <a:avLst/>
          </a:prstGeom>
          <a:noFill/>
        </p:spPr>
        <p:txBody>
          <a:bodyPr wrap="square">
            <a:spAutoFit/>
          </a:bodyPr>
          <a:lstStyle/>
          <a:p>
            <a:pPr algn="l"/>
            <a:r>
              <a:rPr sz="1800" b="0" i="1">
                <a:solidFill>
                  <a:srgbClr val="C9A96E"/>
                </a:solidFill>
                <a:latin typeface="Cormorant Garamond"/>
              </a:rPr>
              <a:t>6 min</a:t>
            </a:r>
          </a:p>
        </p:txBody>
      </p:sp>
      <p:sp>
        <p:nvSpPr>
          <p:cNvPr id="9" name="TextBox 8"/>
          <p:cNvSpPr txBox="1"/>
          <p:nvPr/>
        </p:nvSpPr>
        <p:spPr>
          <a:xfrm>
            <a:off x="2468880" y="3794759"/>
            <a:ext cx="3474720" cy="365760"/>
          </a:xfrm>
          <a:prstGeom prst="rect">
            <a:avLst/>
          </a:prstGeom>
          <a:noFill/>
        </p:spPr>
        <p:txBody>
          <a:bodyPr wrap="square">
            <a:spAutoFit/>
          </a:bodyPr>
          <a:lstStyle/>
          <a:p>
            <a:pPr algn="l"/>
            <a:r>
              <a:rPr sz="1000" b="0" i="0">
                <a:solidFill>
                  <a:srgbClr val="4A4440"/>
                </a:solidFill>
                <a:latin typeface="DM Sans"/>
              </a:rPr>
              <a:t>Jubilee Hills Check Post</a:t>
            </a:r>
          </a:p>
        </p:txBody>
      </p:sp>
      <p:sp>
        <p:nvSpPr>
          <p:cNvPr id="10" name="TextBox 9"/>
          <p:cNvSpPr txBox="1"/>
          <p:nvPr/>
        </p:nvSpPr>
        <p:spPr>
          <a:xfrm>
            <a:off x="1097280" y="4297680"/>
            <a:ext cx="1280160" cy="411480"/>
          </a:xfrm>
          <a:prstGeom prst="rect">
            <a:avLst/>
          </a:prstGeom>
          <a:noFill/>
        </p:spPr>
        <p:txBody>
          <a:bodyPr wrap="square">
            <a:spAutoFit/>
          </a:bodyPr>
          <a:lstStyle/>
          <a:p>
            <a:pPr algn="l"/>
            <a:r>
              <a:rPr sz="1800" b="0" i="1">
                <a:solidFill>
                  <a:srgbClr val="C9A96E"/>
                </a:solidFill>
                <a:latin typeface="Cormorant Garamond"/>
              </a:rPr>
              <a:t>8 min</a:t>
            </a:r>
          </a:p>
        </p:txBody>
      </p:sp>
      <p:sp>
        <p:nvSpPr>
          <p:cNvPr id="11" name="TextBox 10"/>
          <p:cNvSpPr txBox="1"/>
          <p:nvPr/>
        </p:nvSpPr>
        <p:spPr>
          <a:xfrm>
            <a:off x="2468880" y="4343400"/>
            <a:ext cx="3474720" cy="365760"/>
          </a:xfrm>
          <a:prstGeom prst="rect">
            <a:avLst/>
          </a:prstGeom>
          <a:noFill/>
        </p:spPr>
        <p:txBody>
          <a:bodyPr wrap="square">
            <a:spAutoFit/>
          </a:bodyPr>
          <a:lstStyle/>
          <a:p>
            <a:pPr algn="l"/>
            <a:r>
              <a:rPr sz="1000" b="0" i="0">
                <a:solidFill>
                  <a:srgbClr val="4A4440"/>
                </a:solidFill>
                <a:latin typeface="DM Sans"/>
              </a:rPr>
              <a:t>Banjara Hills Road No. 12</a:t>
            </a:r>
          </a:p>
        </p:txBody>
      </p:sp>
      <p:sp>
        <p:nvSpPr>
          <p:cNvPr id="12" name="TextBox 11"/>
          <p:cNvSpPr txBox="1"/>
          <p:nvPr/>
        </p:nvSpPr>
        <p:spPr>
          <a:xfrm>
            <a:off x="1097280" y="4846320"/>
            <a:ext cx="1280160" cy="411480"/>
          </a:xfrm>
          <a:prstGeom prst="rect">
            <a:avLst/>
          </a:prstGeom>
          <a:noFill/>
        </p:spPr>
        <p:txBody>
          <a:bodyPr wrap="square">
            <a:spAutoFit/>
          </a:bodyPr>
          <a:lstStyle/>
          <a:p>
            <a:pPr algn="l"/>
            <a:r>
              <a:rPr sz="1800" b="0" i="1">
                <a:solidFill>
                  <a:srgbClr val="C9A96E"/>
                </a:solidFill>
                <a:latin typeface="Cormorant Garamond"/>
              </a:rPr>
              <a:t>10 min</a:t>
            </a:r>
          </a:p>
        </p:txBody>
      </p:sp>
      <p:sp>
        <p:nvSpPr>
          <p:cNvPr id="13" name="TextBox 12"/>
          <p:cNvSpPr txBox="1"/>
          <p:nvPr/>
        </p:nvSpPr>
        <p:spPr>
          <a:xfrm>
            <a:off x="2468880" y="4892040"/>
            <a:ext cx="3474720" cy="365760"/>
          </a:xfrm>
          <a:prstGeom prst="rect">
            <a:avLst/>
          </a:prstGeom>
          <a:noFill/>
        </p:spPr>
        <p:txBody>
          <a:bodyPr wrap="square">
            <a:spAutoFit/>
          </a:bodyPr>
          <a:lstStyle/>
          <a:p>
            <a:pPr algn="l"/>
            <a:r>
              <a:rPr sz="1000" b="0" i="0">
                <a:solidFill>
                  <a:srgbClr val="4A4440"/>
                </a:solidFill>
                <a:latin typeface="DM Sans"/>
              </a:rPr>
              <a:t>KBR National Park</a:t>
            </a:r>
          </a:p>
        </p:txBody>
      </p:sp>
      <p:sp>
        <p:nvSpPr>
          <p:cNvPr id="14" name="TextBox 13"/>
          <p:cNvSpPr txBox="1"/>
          <p:nvPr/>
        </p:nvSpPr>
        <p:spPr>
          <a:xfrm>
            <a:off x="1097280" y="5394960"/>
            <a:ext cx="1280160" cy="411480"/>
          </a:xfrm>
          <a:prstGeom prst="rect">
            <a:avLst/>
          </a:prstGeom>
          <a:noFill/>
        </p:spPr>
        <p:txBody>
          <a:bodyPr wrap="square">
            <a:spAutoFit/>
          </a:bodyPr>
          <a:lstStyle/>
          <a:p>
            <a:pPr algn="l"/>
            <a:r>
              <a:rPr sz="1800" b="0" i="1">
                <a:solidFill>
                  <a:srgbClr val="C9A96E"/>
                </a:solidFill>
                <a:latin typeface="Cormorant Garamond"/>
              </a:rPr>
              <a:t>12 min</a:t>
            </a:r>
          </a:p>
        </p:txBody>
      </p:sp>
      <p:sp>
        <p:nvSpPr>
          <p:cNvPr id="15" name="TextBox 14"/>
          <p:cNvSpPr txBox="1"/>
          <p:nvPr/>
        </p:nvSpPr>
        <p:spPr>
          <a:xfrm>
            <a:off x="2468880" y="5440680"/>
            <a:ext cx="3474720" cy="365760"/>
          </a:xfrm>
          <a:prstGeom prst="rect">
            <a:avLst/>
          </a:prstGeom>
          <a:noFill/>
        </p:spPr>
        <p:txBody>
          <a:bodyPr wrap="square">
            <a:spAutoFit/>
          </a:bodyPr>
          <a:lstStyle/>
          <a:p>
            <a:pPr algn="l"/>
            <a:r>
              <a:rPr sz="1000" b="0" i="0">
                <a:solidFill>
                  <a:srgbClr val="4A4440"/>
                </a:solidFill>
                <a:latin typeface="DM Sans"/>
              </a:rPr>
              <a:t>Hyderabad International Convention Centre</a:t>
            </a:r>
          </a:p>
        </p:txBody>
      </p:sp>
      <p:sp>
        <p:nvSpPr>
          <p:cNvPr id="16" name="TextBox 15"/>
          <p:cNvSpPr txBox="1"/>
          <p:nvPr/>
        </p:nvSpPr>
        <p:spPr>
          <a:xfrm>
            <a:off x="1097280" y="5943600"/>
            <a:ext cx="1280160" cy="411480"/>
          </a:xfrm>
          <a:prstGeom prst="rect">
            <a:avLst/>
          </a:prstGeom>
          <a:noFill/>
        </p:spPr>
        <p:txBody>
          <a:bodyPr wrap="square">
            <a:spAutoFit/>
          </a:bodyPr>
          <a:lstStyle/>
          <a:p>
            <a:pPr algn="l"/>
            <a:r>
              <a:rPr sz="1800" b="0" i="1">
                <a:solidFill>
                  <a:srgbClr val="C9A96E"/>
                </a:solidFill>
                <a:latin typeface="Cormorant Garamond"/>
              </a:rPr>
              <a:t>18 min</a:t>
            </a:r>
          </a:p>
        </p:txBody>
      </p:sp>
      <p:sp>
        <p:nvSpPr>
          <p:cNvPr id="17" name="TextBox 16"/>
          <p:cNvSpPr txBox="1"/>
          <p:nvPr/>
        </p:nvSpPr>
        <p:spPr>
          <a:xfrm>
            <a:off x="2468880" y="5989320"/>
            <a:ext cx="3474720" cy="365760"/>
          </a:xfrm>
          <a:prstGeom prst="rect">
            <a:avLst/>
          </a:prstGeom>
          <a:noFill/>
        </p:spPr>
        <p:txBody>
          <a:bodyPr wrap="square">
            <a:spAutoFit/>
          </a:bodyPr>
          <a:lstStyle/>
          <a:p>
            <a:pPr algn="l"/>
            <a:r>
              <a:rPr sz="1000" b="0" i="0">
                <a:solidFill>
                  <a:srgbClr val="4A4440"/>
                </a:solidFill>
                <a:latin typeface="DM Sans"/>
              </a:rPr>
              <a:t>Financial District · HITECH City</a:t>
            </a:r>
          </a:p>
        </p:txBody>
      </p:sp>
      <p:sp>
        <p:nvSpPr>
          <p:cNvPr id="18" name="Rectangle 17"/>
          <p:cNvSpPr/>
          <p:nvPr/>
        </p:nvSpPr>
        <p:spPr>
          <a:xfrm>
            <a:off x="6583680" y="457200"/>
            <a:ext cx="5394960" cy="5943600"/>
          </a:xfrm>
          <a:prstGeom prst="rect">
            <a:avLst/>
          </a:prstGeom>
          <a:solidFill>
            <a:srgbClr val="D8D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3200400"/>
            <a:ext cx="5212080" cy="457200"/>
          </a:xfrm>
          <a:prstGeom prst="rect">
            <a:avLst/>
          </a:prstGeom>
          <a:noFill/>
        </p:spPr>
        <p:txBody>
          <a:bodyPr wrap="square">
            <a:spAutoFit/>
          </a:bodyPr>
          <a:lstStyle/>
          <a:p>
            <a:pPr algn="ctr"/>
            <a:r>
              <a:rPr sz="850" b="0" i="0">
                <a:solidFill>
                  <a:srgbClr val="4A4440"/>
                </a:solidFill>
                <a:latin typeface="DM Sans"/>
              </a:rPr>
              <a:t>[ Illustrated estate map — fine-line, Arcadian Gold on Sandstone ]</a:t>
            </a:r>
          </a:p>
        </p:txBody>
      </p:sp>
      <p:sp>
        <p:nvSpPr>
          <p:cNvPr id="20" name="Rectangle 19"/>
          <p:cNvSpPr/>
          <p:nvPr/>
        </p:nvSpPr>
        <p:spPr>
          <a:xfrm>
            <a:off x="9235440" y="2834640"/>
            <a:ext cx="137160" cy="13716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2788920"/>
            <a:ext cx="1371600" cy="320040"/>
          </a:xfrm>
          <a:prstGeom prst="rect">
            <a:avLst/>
          </a:prstGeom>
          <a:noFill/>
        </p:spPr>
        <p:txBody>
          <a:bodyPr wrap="square">
            <a:spAutoFit/>
          </a:bodyPr>
          <a:lstStyle/>
          <a:p>
            <a:pPr algn="l"/>
            <a:r>
              <a:rPr sz="1100" b="0" i="1">
                <a:solidFill>
                  <a:srgbClr val="2C2825"/>
                </a:solidFill>
                <a:latin typeface="Cormorant Garamond"/>
              </a:rPr>
              <a:t>Virāma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822960"/>
            <a:ext cx="4572000" cy="228600"/>
          </a:xfrm>
          <a:prstGeom prst="rect">
            <a:avLst/>
          </a:prstGeom>
          <a:noFill/>
        </p:spPr>
        <p:txBody>
          <a:bodyPr wrap="square">
            <a:spAutoFit/>
          </a:bodyPr>
          <a:lstStyle/>
          <a:p>
            <a:pPr algn="l"/>
            <a:r>
              <a:rPr sz="800" b="0" i="0">
                <a:solidFill>
                  <a:srgbClr val="C9A96E"/>
                </a:solidFill>
                <a:latin typeface="DM Sans"/>
              </a:rPr>
              <a:t>SSQUARE  ·  EST. 1991</a:t>
            </a:r>
          </a:p>
        </p:txBody>
      </p:sp>
      <p:cxnSp>
        <p:nvCxnSpPr>
          <p:cNvPr id="4" name="Connector 3"/>
          <p:cNvCxnSpPr/>
          <p:nvPr/>
        </p:nvCxnSpPr>
        <p:spPr>
          <a:xfrm>
            <a:off x="1097280" y="1143000"/>
            <a:ext cx="22860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325880"/>
            <a:ext cx="10058400" cy="1463040"/>
          </a:xfrm>
          <a:prstGeom prst="rect">
            <a:avLst/>
          </a:prstGeom>
          <a:noFill/>
        </p:spPr>
        <p:txBody>
          <a:bodyPr wrap="square">
            <a:spAutoFit/>
          </a:bodyPr>
          <a:lstStyle/>
          <a:p>
            <a:pPr algn="l">
              <a:spcAft>
                <a:spcPts val="800"/>
              </a:spcAft>
            </a:pPr>
            <a:r>
              <a:rPr sz="3400" i="1" b="0">
                <a:solidFill>
                  <a:srgbClr val="2C2825"/>
                </a:solidFill>
                <a:latin typeface="Cormorant Garamond"/>
              </a:rPr>
              <a:t>The people who built Hyderabad's skyline</a:t>
            </a:r>
          </a:p>
          <a:p>
            <a:pPr algn="l">
              <a:spcAft>
                <a:spcPts val="800"/>
              </a:spcAft>
            </a:pPr>
            <a:r>
              <a:rPr sz="3400" i="1" b="0">
                <a:solidFill>
                  <a:srgbClr val="2C2825"/>
                </a:solidFill>
                <a:latin typeface="Cormorant Garamond"/>
              </a:rPr>
              <a:t>now build its quietest home.</a:t>
            </a:r>
          </a:p>
        </p:txBody>
      </p:sp>
      <p:sp>
        <p:nvSpPr>
          <p:cNvPr id="6" name="TextBox 5"/>
          <p:cNvSpPr txBox="1"/>
          <p:nvPr/>
        </p:nvSpPr>
        <p:spPr>
          <a:xfrm>
            <a:off x="1097280" y="2971800"/>
            <a:ext cx="10058400" cy="1280160"/>
          </a:xfrm>
          <a:prstGeom prst="rect">
            <a:avLst/>
          </a:prstGeom>
          <a:noFill/>
        </p:spPr>
        <p:txBody>
          <a:bodyPr wrap="square">
            <a:spAutoFit/>
          </a:bodyPr>
          <a:lstStyle/>
          <a:p>
            <a:pPr algn="l"/>
            <a:r>
              <a:rPr sz="1100" b="0" i="0">
                <a:solidFill>
                  <a:srgbClr val="4A4440"/>
                </a:solidFill>
                <a:latin typeface="DM Sans"/>
              </a:rPr>
              <a:t>Over three decades and ten million square feet of premium commercial development in Hyderabad. Grade A offices, institutional campuses, long-term assets. SSquare has never listed, never diluted, never rushed. The same discipline that governs a 500,000 sq ft commercial campus governs a single Virāma villa.</a:t>
            </a:r>
          </a:p>
        </p:txBody>
      </p:sp>
      <p:sp>
        <p:nvSpPr>
          <p:cNvPr id="7" name="TextBox 6"/>
          <p:cNvSpPr txBox="1"/>
          <p:nvPr/>
        </p:nvSpPr>
        <p:spPr>
          <a:xfrm>
            <a:off x="1280160" y="4389120"/>
            <a:ext cx="3200400" cy="1280160"/>
          </a:xfrm>
          <a:prstGeom prst="rect">
            <a:avLst/>
          </a:prstGeom>
          <a:noFill/>
        </p:spPr>
        <p:txBody>
          <a:bodyPr wrap="square">
            <a:spAutoFit/>
          </a:bodyPr>
          <a:lstStyle/>
          <a:p>
            <a:pPr algn="ctr"/>
            <a:r>
              <a:rPr sz="7200" b="0" i="0">
                <a:solidFill>
                  <a:srgbClr val="2C2825"/>
                </a:solidFill>
                <a:latin typeface="Cormorant Garamond"/>
              </a:rPr>
              <a:t>35</a:t>
            </a:r>
          </a:p>
        </p:txBody>
      </p:sp>
      <p:sp>
        <p:nvSpPr>
          <p:cNvPr id="8" name="TextBox 7"/>
          <p:cNvSpPr txBox="1"/>
          <p:nvPr/>
        </p:nvSpPr>
        <p:spPr>
          <a:xfrm>
            <a:off x="1280160" y="5577840"/>
            <a:ext cx="3200400" cy="457200"/>
          </a:xfrm>
          <a:prstGeom prst="rect">
            <a:avLst/>
          </a:prstGeom>
          <a:noFill/>
        </p:spPr>
        <p:txBody>
          <a:bodyPr wrap="square">
            <a:spAutoFit/>
          </a:bodyPr>
          <a:lstStyle/>
          <a:p>
            <a:pPr algn="ctr"/>
            <a:r>
              <a:rPr sz="900" b="0" i="0">
                <a:solidFill>
                  <a:srgbClr val="4A4440"/>
                </a:solidFill>
                <a:latin typeface="DM Sans"/>
              </a:rPr>
              <a:t>Years in Hyderabad real estate</a:t>
            </a:r>
          </a:p>
        </p:txBody>
      </p:sp>
      <p:sp>
        <p:nvSpPr>
          <p:cNvPr id="9" name="TextBox 8"/>
          <p:cNvSpPr txBox="1"/>
          <p:nvPr/>
        </p:nvSpPr>
        <p:spPr>
          <a:xfrm>
            <a:off x="4937760" y="4389120"/>
            <a:ext cx="3200400" cy="1280160"/>
          </a:xfrm>
          <a:prstGeom prst="rect">
            <a:avLst/>
          </a:prstGeom>
          <a:noFill/>
        </p:spPr>
        <p:txBody>
          <a:bodyPr wrap="square">
            <a:spAutoFit/>
          </a:bodyPr>
          <a:lstStyle/>
          <a:p>
            <a:pPr algn="ctr"/>
            <a:r>
              <a:rPr sz="7200" b="0" i="0">
                <a:solidFill>
                  <a:srgbClr val="2C2825"/>
                </a:solidFill>
                <a:latin typeface="Cormorant Garamond"/>
              </a:rPr>
              <a:t>10M+</a:t>
            </a:r>
          </a:p>
        </p:txBody>
      </p:sp>
      <p:sp>
        <p:nvSpPr>
          <p:cNvPr id="10" name="TextBox 9"/>
          <p:cNvSpPr txBox="1"/>
          <p:nvPr/>
        </p:nvSpPr>
        <p:spPr>
          <a:xfrm>
            <a:off x="4937760" y="5577840"/>
            <a:ext cx="3200400" cy="457200"/>
          </a:xfrm>
          <a:prstGeom prst="rect">
            <a:avLst/>
          </a:prstGeom>
          <a:noFill/>
        </p:spPr>
        <p:txBody>
          <a:bodyPr wrap="square">
            <a:spAutoFit/>
          </a:bodyPr>
          <a:lstStyle/>
          <a:p>
            <a:pPr algn="ctr"/>
            <a:r>
              <a:rPr sz="900" b="0" i="0">
                <a:solidFill>
                  <a:srgbClr val="4A4440"/>
                </a:solidFill>
                <a:latin typeface="DM Sans"/>
              </a:rPr>
              <a:t>Square feet developed</a:t>
            </a:r>
          </a:p>
        </p:txBody>
      </p:sp>
      <p:sp>
        <p:nvSpPr>
          <p:cNvPr id="11" name="TextBox 10"/>
          <p:cNvSpPr txBox="1"/>
          <p:nvPr/>
        </p:nvSpPr>
        <p:spPr>
          <a:xfrm>
            <a:off x="8595360" y="4389120"/>
            <a:ext cx="3200400" cy="1280160"/>
          </a:xfrm>
          <a:prstGeom prst="rect">
            <a:avLst/>
          </a:prstGeom>
          <a:noFill/>
        </p:spPr>
        <p:txBody>
          <a:bodyPr wrap="square">
            <a:spAutoFit/>
          </a:bodyPr>
          <a:lstStyle/>
          <a:p>
            <a:pPr algn="ctr"/>
            <a:r>
              <a:rPr sz="7200" b="0" i="0">
                <a:solidFill>
                  <a:srgbClr val="2C2825"/>
                </a:solidFill>
                <a:latin typeface="Cormorant Garamond"/>
              </a:rPr>
              <a:t>1</a:t>
            </a:r>
          </a:p>
        </p:txBody>
      </p:sp>
      <p:sp>
        <p:nvSpPr>
          <p:cNvPr id="12" name="TextBox 11"/>
          <p:cNvSpPr txBox="1"/>
          <p:nvPr/>
        </p:nvSpPr>
        <p:spPr>
          <a:xfrm>
            <a:off x="8595360" y="5577840"/>
            <a:ext cx="3200400" cy="457200"/>
          </a:xfrm>
          <a:prstGeom prst="rect">
            <a:avLst/>
          </a:prstGeom>
          <a:noFill/>
        </p:spPr>
        <p:txBody>
          <a:bodyPr wrap="square">
            <a:spAutoFit/>
          </a:bodyPr>
          <a:lstStyle/>
          <a:p>
            <a:pPr algn="ctr"/>
            <a:r>
              <a:rPr sz="900" b="0" i="0">
                <a:solidFill>
                  <a:srgbClr val="4A4440"/>
                </a:solidFill>
                <a:latin typeface="DM Sans"/>
              </a:rPr>
              <a:t>Residential debut</a:t>
            </a:r>
          </a:p>
        </p:txBody>
      </p:sp>
      <p:cxnSp>
        <p:nvCxnSpPr>
          <p:cNvPr id="13" name="Connector 12"/>
          <p:cNvCxnSpPr/>
          <p:nvPr/>
        </p:nvCxnSpPr>
        <p:spPr>
          <a:xfrm>
            <a:off x="8961120" y="5120640"/>
            <a:ext cx="210312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961120" y="5303520"/>
            <a:ext cx="3017520" cy="548640"/>
          </a:xfrm>
          <a:prstGeom prst="rect">
            <a:avLst/>
          </a:prstGeom>
          <a:noFill/>
        </p:spPr>
        <p:txBody>
          <a:bodyPr wrap="square">
            <a:spAutoFit/>
          </a:bodyPr>
          <a:lstStyle/>
          <a:p>
            <a:pPr algn="l"/>
            <a:r>
              <a:rPr sz="1300" b="0" i="1">
                <a:solidFill>
                  <a:srgbClr val="C9A96E"/>
                </a:solidFill>
                <a:latin typeface="Cormorant Garamond"/>
              </a:rPr>
              <a:t>"The Standard, Privately Held."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A1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108960"/>
            <a:ext cx="8531352" cy="457200"/>
          </a:xfrm>
          <a:prstGeom prst="rect">
            <a:avLst/>
          </a:prstGeom>
          <a:noFill/>
        </p:spPr>
        <p:txBody>
          <a:bodyPr wrap="square">
            <a:spAutoFit/>
          </a:bodyPr>
          <a:lstStyle/>
          <a:p>
            <a:pPr algn="ctr"/>
            <a:r>
              <a:rPr sz="900" b="0" i="0">
                <a:solidFill>
                  <a:srgbClr val="454842"/>
                </a:solidFill>
                <a:latin typeface="DM Sans"/>
              </a:rPr>
              <a:t>[ Cinematic dusk photograph — villa from distance, pool reflecting sky, canopy framing sides ]</a:t>
            </a:r>
          </a:p>
        </p:txBody>
      </p:sp>
      <p:sp>
        <p:nvSpPr>
          <p:cNvPr id="5" name="TextBox 4"/>
          <p:cNvSpPr txBox="1"/>
          <p:nvPr/>
        </p:nvSpPr>
        <p:spPr>
          <a:xfrm>
            <a:off x="1371600" y="2286000"/>
            <a:ext cx="9445752" cy="1280160"/>
          </a:xfrm>
          <a:prstGeom prst="rect">
            <a:avLst/>
          </a:prstGeom>
          <a:noFill/>
        </p:spPr>
        <p:txBody>
          <a:bodyPr wrap="square">
            <a:spAutoFit/>
          </a:bodyPr>
          <a:lstStyle/>
          <a:p>
            <a:pPr algn="ctr"/>
            <a:r>
              <a:rPr sz="6400" b="0" i="1">
                <a:solidFill>
                  <a:srgbClr val="F5F1EC"/>
                </a:solidFill>
                <a:latin typeface="Cormorant Garamond"/>
              </a:rPr>
              <a:t>Come home to quiet.</a:t>
            </a:r>
          </a:p>
        </p:txBody>
      </p:sp>
      <p:cxnSp>
        <p:nvCxnSpPr>
          <p:cNvPr id="6" name="Connector 5"/>
          <p:cNvCxnSpPr/>
          <p:nvPr/>
        </p:nvCxnSpPr>
        <p:spPr>
          <a:xfrm>
            <a:off x="4754880" y="3703320"/>
            <a:ext cx="265176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371600" y="3886200"/>
            <a:ext cx="9445752" cy="457200"/>
          </a:xfrm>
          <a:prstGeom prst="rect">
            <a:avLst/>
          </a:prstGeom>
          <a:noFill/>
        </p:spPr>
        <p:txBody>
          <a:bodyPr wrap="square">
            <a:spAutoFit/>
          </a:bodyPr>
          <a:lstStyle/>
          <a:p>
            <a:pPr algn="ctr"/>
            <a:r>
              <a:rPr sz="1200" b="0" i="0">
                <a:solidFill>
                  <a:srgbClr val="E8E2D8"/>
                </a:solidFill>
                <a:latin typeface="DM Sans"/>
              </a:rPr>
              <a:t>Virāma by SSquare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5486400" cy="1280160"/>
          </a:xfrm>
          <a:prstGeom prst="rect">
            <a:avLst/>
          </a:prstGeom>
          <a:noFill/>
        </p:spPr>
        <p:txBody>
          <a:bodyPr wrap="square">
            <a:spAutoFit/>
          </a:bodyPr>
          <a:lstStyle/>
          <a:p>
            <a:pPr algn="l"/>
            <a:r>
              <a:rPr sz="6400" b="0" i="1">
                <a:solidFill>
                  <a:srgbClr val="F5F1EC"/>
                </a:solidFill>
                <a:latin typeface="Cormorant Garamond"/>
              </a:rPr>
              <a:t>Virāma</a:t>
            </a:r>
          </a:p>
        </p:txBody>
      </p:sp>
      <p:sp>
        <p:nvSpPr>
          <p:cNvPr id="4" name="TextBox 3"/>
          <p:cNvSpPr txBox="1"/>
          <p:nvPr/>
        </p:nvSpPr>
        <p:spPr>
          <a:xfrm>
            <a:off x="1097280" y="2468880"/>
            <a:ext cx="3657600" cy="640080"/>
          </a:xfrm>
          <a:prstGeom prst="rect">
            <a:avLst/>
          </a:prstGeom>
          <a:noFill/>
        </p:spPr>
        <p:txBody>
          <a:bodyPr wrap="square">
            <a:spAutoFit/>
          </a:bodyPr>
          <a:lstStyle/>
          <a:p>
            <a:pPr algn="l"/>
            <a:r>
              <a:rPr sz="2400" b="0" i="0">
                <a:solidFill>
                  <a:srgbClr val="E8E2D8"/>
                </a:solidFill>
                <a:latin typeface="Cormorant Garamond"/>
              </a:rPr>
              <a:t>विराम</a:t>
            </a:r>
          </a:p>
        </p:txBody>
      </p:sp>
      <p:cxnSp>
        <p:nvCxnSpPr>
          <p:cNvPr id="5" name="Connector 4"/>
          <p:cNvCxnSpPr/>
          <p:nvPr/>
        </p:nvCxnSpPr>
        <p:spPr>
          <a:xfrm>
            <a:off x="1097280" y="3291840"/>
            <a:ext cx="27432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7280" y="3566160"/>
            <a:ext cx="4572000" cy="320040"/>
          </a:xfrm>
          <a:prstGeom prst="rect">
            <a:avLst/>
          </a:prstGeom>
          <a:noFill/>
        </p:spPr>
        <p:txBody>
          <a:bodyPr wrap="square">
            <a:spAutoFit/>
          </a:bodyPr>
          <a:lstStyle/>
          <a:p>
            <a:pPr algn="l"/>
            <a:r>
              <a:rPr sz="800" b="0" i="0">
                <a:solidFill>
                  <a:srgbClr val="C9A96E"/>
                </a:solidFill>
                <a:latin typeface="DM Sans"/>
              </a:rPr>
              <a:t>Sales Enquiries</a:t>
            </a:r>
          </a:p>
        </p:txBody>
      </p:sp>
      <p:sp>
        <p:nvSpPr>
          <p:cNvPr id="7" name="TextBox 6"/>
          <p:cNvSpPr txBox="1"/>
          <p:nvPr/>
        </p:nvSpPr>
        <p:spPr>
          <a:xfrm>
            <a:off x="1097280" y="3913632"/>
            <a:ext cx="6400800" cy="365760"/>
          </a:xfrm>
          <a:prstGeom prst="rect">
            <a:avLst/>
          </a:prstGeom>
          <a:noFill/>
        </p:spPr>
        <p:txBody>
          <a:bodyPr wrap="square">
            <a:spAutoFit/>
          </a:bodyPr>
          <a:lstStyle/>
          <a:p>
            <a:pPr algn="l"/>
            <a:r>
              <a:rPr sz="1050" b="0" i="0">
                <a:solidFill>
                  <a:srgbClr val="E8E2D8"/>
                </a:solidFill>
                <a:latin typeface="DM Sans"/>
              </a:rPr>
              <a:t>[Phone number]  ·  [Email address]  ·  [Website URL]</a:t>
            </a:r>
          </a:p>
        </p:txBody>
      </p:sp>
      <p:sp>
        <p:nvSpPr>
          <p:cNvPr id="8" name="TextBox 7"/>
          <p:cNvSpPr txBox="1"/>
          <p:nvPr/>
        </p:nvSpPr>
        <p:spPr>
          <a:xfrm>
            <a:off x="1097280" y="4434840"/>
            <a:ext cx="5486400" cy="320040"/>
          </a:xfrm>
          <a:prstGeom prst="rect">
            <a:avLst/>
          </a:prstGeom>
          <a:noFill/>
        </p:spPr>
        <p:txBody>
          <a:bodyPr wrap="square">
            <a:spAutoFit/>
          </a:bodyPr>
          <a:lstStyle/>
          <a:p>
            <a:pPr algn="l"/>
            <a:r>
              <a:rPr sz="800" b="0" i="0">
                <a:solidFill>
                  <a:srgbClr val="C9A96E"/>
                </a:solidFill>
                <a:latin typeface="DM Sans"/>
              </a:rPr>
              <a:t>Site Visits by Appointment Only</a:t>
            </a:r>
          </a:p>
        </p:txBody>
      </p:sp>
      <p:sp>
        <p:nvSpPr>
          <p:cNvPr id="9" name="TextBox 8"/>
          <p:cNvSpPr txBox="1"/>
          <p:nvPr/>
        </p:nvSpPr>
        <p:spPr>
          <a:xfrm>
            <a:off x="1097280" y="4782312"/>
            <a:ext cx="6400800" cy="365760"/>
          </a:xfrm>
          <a:prstGeom prst="rect">
            <a:avLst/>
          </a:prstGeom>
          <a:noFill/>
        </p:spPr>
        <p:txBody>
          <a:bodyPr wrap="square">
            <a:spAutoFit/>
          </a:bodyPr>
          <a:lstStyle/>
          <a:p>
            <a:pPr algn="l"/>
            <a:r>
              <a:rPr sz="1050" b="0" i="0">
                <a:solidFill>
                  <a:srgbClr val="E8E2D8"/>
                </a:solidFill>
                <a:latin typeface="DM Sans"/>
              </a:rPr>
              <a:t>Prashashan Nagar, Jubilee Hills, Hyderabad</a:t>
            </a:r>
          </a:p>
        </p:txBody>
      </p:sp>
      <p:cxnSp>
        <p:nvCxnSpPr>
          <p:cNvPr id="10" name="Connector 9"/>
          <p:cNvCxnSpPr/>
          <p:nvPr/>
        </p:nvCxnSpPr>
        <p:spPr>
          <a:xfrm>
            <a:off x="1097280" y="5989320"/>
            <a:ext cx="2743200" cy="0"/>
          </a:xfrm>
          <a:prstGeom prst="line">
            <a:avLst/>
          </a:prstGeom>
          <a:ln w="9525">
            <a:solidFill>
              <a:srgbClr val="C9A96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97280" y="6144768"/>
            <a:ext cx="5486400" cy="365760"/>
          </a:xfrm>
          <a:prstGeom prst="rect">
            <a:avLst/>
          </a:prstGeom>
          <a:noFill/>
        </p:spPr>
        <p:txBody>
          <a:bodyPr wrap="square">
            <a:spAutoFit/>
          </a:bodyPr>
          <a:lstStyle/>
          <a:p>
            <a:pPr algn="l"/>
            <a:r>
              <a:rPr sz="900" b="0" i="0">
                <a:solidFill>
                  <a:srgbClr val="4A4440"/>
                </a:solidFill>
                <a:latin typeface="DM Sans"/>
              </a:rPr>
              <a:t>A SSquare Development  ·  Est. 1991</a:t>
            </a:r>
          </a:p>
        </p:txBody>
      </p:sp>
      <p:sp>
        <p:nvSpPr>
          <p:cNvPr id="12" name="TextBox 11"/>
          <p:cNvSpPr txBox="1"/>
          <p:nvPr/>
        </p:nvSpPr>
        <p:spPr>
          <a:xfrm>
            <a:off x="1097280" y="6473952"/>
            <a:ext cx="5486400" cy="365760"/>
          </a:xfrm>
          <a:prstGeom prst="rect">
            <a:avLst/>
          </a:prstGeom>
          <a:noFill/>
        </p:spPr>
        <p:txBody>
          <a:bodyPr wrap="square">
            <a:spAutoFit/>
          </a:bodyPr>
          <a:lstStyle/>
          <a:p>
            <a:pPr algn="l"/>
            <a:r>
              <a:rPr sz="1100" b="0" i="1">
                <a:solidFill>
                  <a:srgbClr val="C9A96E"/>
                </a:solidFill>
                <a:latin typeface="Cormorant Garamond"/>
              </a:rPr>
              <a:t>"The Standard, Privately Held."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